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1597587" cy="20116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1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2009067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2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2374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3 조달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5295682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4 지급능력</a:t>
            </a:r>
          </a:p>
        </p:txBody>
      </p:sp>
      <p:sp>
        <p:nvSpPr>
          <p:cNvPr id="6" name="Rectangle 5"/>
          <p:cNvSpPr/>
          <p:nvPr/>
        </p:nvSpPr>
        <p:spPr>
          <a:xfrm>
            <a:off x="6938989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5 현금흐름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8582297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6 시나리오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25604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7 권고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38912"/>
            <a:ext cx="11457432" cy="77724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맑은 고딕"/>
              </a:rPr>
              <a:t>A사 발주는 진행하되, 차환 리스크는 결제 조건으로 막는다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43584"/>
            <a:ext cx="11457432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298448"/>
            <a:ext cx="11457432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맑은 고딕"/>
              </a:rPr>
              <a:t>요약: 1년 내 흔들릴 가능성은 있으나 우리가 통제 가능한 리스크 (근거는 3~6장, 권고는 7장)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669280"/>
            <a:ext cx="11457432" cy="4572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</a:rPr>
              <a:t>시사점:  </a:t>
            </a:r>
            <a:r>
              <a:rPr sz="1200" b="1">
                <a:solidFill>
                  <a:srgbClr val="1F3864"/>
                </a:solidFill>
                <a:latin typeface="맑은 고딕"/>
              </a:rPr>
              <a:t>핵심 질문은 '망하냐'가 아니라 '1년 안에 차환이 막히냐'다 -&gt; 2장부터 근거를 순서대로 본다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263640"/>
            <a:ext cx="11457432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맑은 고딕"/>
              </a:rPr>
              <a:t>출처: 가상 데이터 (Coaching 공통 데이터셋), 2025년 말 기준, 단위 억원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64592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>
                <a:solidFill>
                  <a:srgbClr val="1F3864"/>
                </a:solidFill>
                <a:latin typeface="맑은 고딕"/>
              </a:rPr>
              <a:t>핵심 발견 3가지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65960"/>
            <a:ext cx="685800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5760" y="2103120"/>
            <a:ext cx="274320" cy="2743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039112"/>
            <a:ext cx="1600200" cy="54864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맑은 고딕"/>
              </a:rPr>
              <a:t>150%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79" y="2057400"/>
            <a:ext cx="47548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맑은 고딕"/>
              </a:rPr>
              <a:t>부채비율 150%, 자산의 60%가 빚이다 (B사 54%)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B2230"/>
                </a:solidFill>
                <a:latin typeface="맑은 고딕"/>
              </a:rPr>
              <a:t>부채 6,000억 중 단기차입 2,000억은 1년 안에 만기. 현금 800억으로는 40%만 갚는다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063239"/>
            <a:ext cx="685800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5760" y="3200399"/>
            <a:ext cx="274320" cy="2743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136391"/>
            <a:ext cx="1600200" cy="54864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2600" b="1">
                <a:solidFill>
                  <a:srgbClr val="C0504D"/>
                </a:solidFill>
                <a:latin typeface="맑은 고딕"/>
              </a:rPr>
              <a:t>74%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79" y="3154679"/>
            <a:ext cx="47548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맑은 고딕"/>
              </a:rPr>
              <a:t>당좌비율 74%, 재고를 빼면 900억이 모자란다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B2230"/>
                </a:solidFill>
                <a:latin typeface="맑은 고딕"/>
              </a:rPr>
              <a:t>1년 내 갚을 돈 3,500억 vs 당좌자산 2,600억. 재고 1,400억이 제때 팔려야 막는다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160520"/>
            <a:ext cx="685800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5760" y="4297680"/>
            <a:ext cx="274320" cy="2743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233672"/>
            <a:ext cx="1600200" cy="54864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2600" b="1">
                <a:solidFill>
                  <a:srgbClr val="C0504D"/>
                </a:solidFill>
                <a:latin typeface="맑은 고딕"/>
              </a:rPr>
              <a:t>150억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79" y="4251959"/>
            <a:ext cx="47548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맑은 고딕"/>
              </a:rPr>
              <a:t>영업현금 150억으로 CAPEX 1,800억을 지었다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B2230"/>
                </a:solidFill>
                <a:latin typeface="맑은 고딕"/>
              </a:rPr>
              <a:t>순이익 420억 중 700억이 채권과 재고에 묶임. 공장은 차입 1,700억으로 메웠고 FCF는 -1,650억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1645920"/>
            <a:ext cx="4233672" cy="32461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89520" y="1645920"/>
            <a:ext cx="4233672" cy="34747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권고: 발주 유지 + 결제 조건 변경</a:t>
            </a:r>
          </a:p>
        </p:txBody>
      </p:sp>
      <p:sp>
        <p:nvSpPr>
          <p:cNvPr id="29" name="Oval 28"/>
          <p:cNvSpPr/>
          <p:nvPr/>
        </p:nvSpPr>
        <p:spPr>
          <a:xfrm>
            <a:off x="7726680" y="2157984"/>
            <a:ext cx="237744" cy="237744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2103120"/>
            <a:ext cx="3685032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선급금 축소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1B2230"/>
                </a:solidFill>
                <a:latin typeface="맑은 고딕"/>
              </a:rPr>
              <a:t>선급 비율을 낮춰 A사 부도 시 노출 금액을 줄인다</a:t>
            </a:r>
          </a:p>
        </p:txBody>
      </p:sp>
      <p:sp>
        <p:nvSpPr>
          <p:cNvPr id="31" name="Oval 30"/>
          <p:cNvSpPr/>
          <p:nvPr/>
        </p:nvSpPr>
        <p:spPr>
          <a:xfrm>
            <a:off x="7726680" y="3072384"/>
            <a:ext cx="237744" cy="237744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3017520"/>
            <a:ext cx="3685032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분할 납품 + 분기 재점검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1B2230"/>
                </a:solidFill>
                <a:latin typeface="맑은 고딕"/>
              </a:rPr>
              <a:t>1년치를 분기 단위로 나눠 납품받고, 당좌비율과 단기차입을 분기마다 본다</a:t>
            </a:r>
          </a:p>
        </p:txBody>
      </p:sp>
      <p:sp>
        <p:nvSpPr>
          <p:cNvPr id="33" name="Oval 32"/>
          <p:cNvSpPr/>
          <p:nvPr/>
        </p:nvSpPr>
        <p:spPr>
          <a:xfrm>
            <a:off x="7726680" y="3986783"/>
            <a:ext cx="237744" cy="237744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3931920"/>
            <a:ext cx="3685032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대체 공급처 병행 조사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1B2230"/>
                </a:solidFill>
                <a:latin typeface="맑은 고딕"/>
              </a:rPr>
              <a:t>지금은 조사만, 하방 시나리오 진입 시 실행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02920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1">
                <a:solidFill>
                  <a:srgbClr val="7F7F7F"/>
                </a:solidFill>
                <a:latin typeface="맑은 고딕"/>
              </a:rPr>
              <a:t>이 덱의 흐름</a:t>
            </a:r>
          </a:p>
        </p:txBody>
      </p:sp>
      <p:sp>
        <p:nvSpPr>
          <p:cNvPr id="36" name="Chevron 35"/>
          <p:cNvSpPr/>
          <p:nvPr/>
        </p:nvSpPr>
        <p:spPr>
          <a:xfrm>
            <a:off x="1554480" y="4983480"/>
            <a:ext cx="2072030" cy="548640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10512" y="4983480"/>
            <a:ext cx="1596542" cy="54864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900" b="1">
                <a:solidFill>
                  <a:srgbClr val="1B2230"/>
                </a:solidFill>
                <a:latin typeface="맑은 고딕"/>
              </a:rPr>
              <a:t>3 조달 구조</a:t>
            </a:r>
          </a:p>
          <a:p>
            <a:pPr algn="l"/>
            <a:r>
              <a:rPr sz="800" b="0">
                <a:solidFill>
                  <a:srgbClr val="1B2230"/>
                </a:solidFill>
                <a:latin typeface="맑은 고딕"/>
              </a:rPr>
              <a:t>빚이 많고 만기가 짧다</a:t>
            </a:r>
          </a:p>
        </p:txBody>
      </p:sp>
      <p:sp>
        <p:nvSpPr>
          <p:cNvPr id="38" name="Chevron 37"/>
          <p:cNvSpPr/>
          <p:nvPr/>
        </p:nvSpPr>
        <p:spPr>
          <a:xfrm>
            <a:off x="3608222" y="4983480"/>
            <a:ext cx="2072030" cy="548640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64254" y="4983480"/>
            <a:ext cx="1596542" cy="54864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900" b="1">
                <a:solidFill>
                  <a:srgbClr val="1B2230"/>
                </a:solidFill>
                <a:latin typeface="맑은 고딕"/>
              </a:rPr>
              <a:t>4 지급능력</a:t>
            </a:r>
          </a:p>
          <a:p>
            <a:pPr algn="l"/>
            <a:r>
              <a:rPr sz="800" b="0">
                <a:solidFill>
                  <a:srgbClr val="1B2230"/>
                </a:solidFill>
                <a:latin typeface="맑은 고딕"/>
              </a:rPr>
              <a:t>재고 빼면 900억 부족</a:t>
            </a:r>
          </a:p>
        </p:txBody>
      </p:sp>
      <p:sp>
        <p:nvSpPr>
          <p:cNvPr id="40" name="Chevron 39"/>
          <p:cNvSpPr/>
          <p:nvPr/>
        </p:nvSpPr>
        <p:spPr>
          <a:xfrm>
            <a:off x="5661964" y="4983480"/>
            <a:ext cx="2072030" cy="548640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17996" y="4983480"/>
            <a:ext cx="1596542" cy="54864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900" b="1">
                <a:solidFill>
                  <a:srgbClr val="1B2230"/>
                </a:solidFill>
                <a:latin typeface="맑은 고딕"/>
              </a:rPr>
              <a:t>5 현금흐름</a:t>
            </a:r>
          </a:p>
          <a:p>
            <a:pPr algn="l"/>
            <a:r>
              <a:rPr sz="800" b="0">
                <a:solidFill>
                  <a:srgbClr val="1B2230"/>
                </a:solidFill>
                <a:latin typeface="맑은 고딕"/>
              </a:rPr>
              <a:t>영업현금 150억뿐</a:t>
            </a:r>
          </a:p>
        </p:txBody>
      </p:sp>
      <p:sp>
        <p:nvSpPr>
          <p:cNvPr id="42" name="Chevron 41"/>
          <p:cNvSpPr/>
          <p:nvPr/>
        </p:nvSpPr>
        <p:spPr>
          <a:xfrm>
            <a:off x="7715707" y="4983480"/>
            <a:ext cx="2072030" cy="548640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71739" y="4983480"/>
            <a:ext cx="1596542" cy="54864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900" b="1">
                <a:solidFill>
                  <a:srgbClr val="1B2230"/>
                </a:solidFill>
                <a:latin typeface="맑은 고딕"/>
              </a:rPr>
              <a:t>6 시나리오</a:t>
            </a:r>
          </a:p>
          <a:p>
            <a:pPr algn="l"/>
            <a:r>
              <a:rPr sz="800" b="0">
                <a:solidFill>
                  <a:srgbClr val="1B2230"/>
                </a:solidFill>
                <a:latin typeface="맑은 고딕"/>
              </a:rPr>
              <a:t>차환 막히면 3개월 (가정)</a:t>
            </a:r>
          </a:p>
        </p:txBody>
      </p:sp>
      <p:sp>
        <p:nvSpPr>
          <p:cNvPr id="44" name="Chevron 43"/>
          <p:cNvSpPr/>
          <p:nvPr/>
        </p:nvSpPr>
        <p:spPr>
          <a:xfrm>
            <a:off x="9769449" y="4983480"/>
            <a:ext cx="2072030" cy="54864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25481" y="4983480"/>
            <a:ext cx="1596542" cy="54864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7 권고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맑은 고딕"/>
              </a:rPr>
              <a:t>결제 조건으로 방어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1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2009067" y="137160"/>
            <a:ext cx="1597587" cy="20116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2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2374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3 조달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5295682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4 지급능력</a:t>
            </a:r>
          </a:p>
        </p:txBody>
      </p:sp>
      <p:sp>
        <p:nvSpPr>
          <p:cNvPr id="6" name="Rectangle 5"/>
          <p:cNvSpPr/>
          <p:nvPr/>
        </p:nvSpPr>
        <p:spPr>
          <a:xfrm>
            <a:off x="6938989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5 현금흐름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8582297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6 시나리오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25604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7 권고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38912"/>
            <a:ext cx="11457432" cy="77724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맑은 고딕"/>
              </a:rPr>
              <a:t>A사는 1년 만에 매출을 25% 키웠지만 영업이익률은 10%에서 8%로 내려왔다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43584"/>
            <a:ext cx="11457432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298448"/>
            <a:ext cx="11457432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맑은 고딕"/>
              </a:rPr>
              <a:t>A사 손익 요약 (2024 -&gt; 2025, 억원). 화장품 ODM, 자산 1.0조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669280"/>
            <a:ext cx="11457432" cy="4572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</a:rPr>
              <a:t>시사점:  </a:t>
            </a:r>
            <a:r>
              <a:rPr sz="1200" b="1">
                <a:solidFill>
                  <a:srgbClr val="1F3864"/>
                </a:solidFill>
                <a:latin typeface="맑은 고딕"/>
              </a:rPr>
              <a:t>성장은 빚으로 샀다는 신호 (이자비용 +67%) -&gt; 다음 장에서 조달 구조를 본다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263640"/>
            <a:ext cx="11457432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맑은 고딕"/>
              </a:rPr>
              <a:t>출처: 가상 데이터 (Coaching 공통 데이터셋), 2025년 말 기준, 단위 억원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691640"/>
            <a:ext cx="161163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691640"/>
            <a:ext cx="1611630" cy="3657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801368"/>
            <a:ext cx="1428750" cy="2286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50" b="0">
                <a:solidFill>
                  <a:srgbClr val="7F7F7F"/>
                </a:solidFill>
                <a:latin typeface="맑은 고딕"/>
              </a:rPr>
              <a:t>매출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020824"/>
            <a:ext cx="1428750" cy="4572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맑은 고딕"/>
              </a:rPr>
              <a:t>10,000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496312"/>
            <a:ext cx="1428750" cy="2286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맑은 고딕"/>
              </a:rPr>
              <a:t>2024 8,000 -&gt; +25%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14550" y="1691640"/>
            <a:ext cx="161163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14550" y="1691640"/>
            <a:ext cx="1611630" cy="3657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05990" y="1801368"/>
            <a:ext cx="1428750" cy="2286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50" b="0">
                <a:solidFill>
                  <a:srgbClr val="7F7F7F"/>
                </a:solidFill>
                <a:latin typeface="맑은 고딕"/>
              </a:rPr>
              <a:t>영업이익률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05990" y="2020824"/>
            <a:ext cx="1428750" cy="4572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200" b="1">
                <a:solidFill>
                  <a:srgbClr val="C0504D"/>
                </a:solidFill>
                <a:latin typeface="맑은 고딕"/>
              </a:rPr>
              <a:t>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05990" y="2496312"/>
            <a:ext cx="1428750" cy="2286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맑은 고딕"/>
              </a:rPr>
              <a:t>2024 10% -&gt; -2%p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63339" y="1691640"/>
            <a:ext cx="161163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63339" y="1691640"/>
            <a:ext cx="1611630" cy="3657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54779" y="1801368"/>
            <a:ext cx="1428750" cy="2286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50" b="0">
                <a:solidFill>
                  <a:srgbClr val="7F7F7F"/>
                </a:solidFill>
                <a:latin typeface="맑은 고딕"/>
              </a:rPr>
              <a:t>이자비용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54779" y="2020824"/>
            <a:ext cx="1428750" cy="4572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200" b="1">
                <a:solidFill>
                  <a:srgbClr val="C0504D"/>
                </a:solidFill>
                <a:latin typeface="맑은 고딕"/>
              </a:rPr>
              <a:t>250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54779" y="2496312"/>
            <a:ext cx="1428750" cy="2286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맑은 고딕"/>
              </a:rPr>
              <a:t>2024 150 -&gt; +67%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12130" y="1691640"/>
            <a:ext cx="161163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12130" y="1691640"/>
            <a:ext cx="1611630" cy="3657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03570" y="1801368"/>
            <a:ext cx="1428750" cy="2286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50" b="0">
                <a:solidFill>
                  <a:srgbClr val="7F7F7F"/>
                </a:solidFill>
                <a:latin typeface="맑은 고딕"/>
              </a:rPr>
              <a:t>순이익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03570" y="2020824"/>
            <a:ext cx="1428750" cy="4572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200" b="1">
                <a:solidFill>
                  <a:srgbClr val="C0504D"/>
                </a:solidFill>
                <a:latin typeface="맑은 고딕"/>
              </a:rPr>
              <a:t>420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03570" y="2496312"/>
            <a:ext cx="1428750" cy="2286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맑은 고딕"/>
              </a:rPr>
              <a:t>2024 500 -&gt; -16%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2971800"/>
            <a:ext cx="6858000" cy="2286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1">
                <a:solidFill>
                  <a:srgbClr val="1F3864"/>
                </a:solidFill>
                <a:latin typeface="맑은 고딕"/>
              </a:rPr>
              <a:t>영업이익은 제자리, 이자비용은 늘고 순이익은 줄었다 (2024 vs 2025, 억원)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3383280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50" b="1">
                <a:solidFill>
                  <a:srgbClr val="1B2230"/>
                </a:solidFill>
                <a:latin typeface="맑은 고딕"/>
              </a:rPr>
              <a:t>영업이익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63040" y="3291840"/>
            <a:ext cx="3364991" cy="20116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73751" y="3264408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맑은 고딕"/>
              </a:rPr>
              <a:t>2024  800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63040" y="3538728"/>
            <a:ext cx="3364991" cy="20116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73751" y="351129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1">
                <a:solidFill>
                  <a:srgbClr val="2E75B6"/>
                </a:solidFill>
                <a:latin typeface="맑은 고딕"/>
              </a:rPr>
              <a:t>2025  800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4133087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50" b="1">
                <a:solidFill>
                  <a:srgbClr val="1B2230"/>
                </a:solidFill>
                <a:latin typeface="맑은 고딕"/>
              </a:rPr>
              <a:t>이자비용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63040" y="4041648"/>
            <a:ext cx="630936" cy="20116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39696" y="4014215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맑은 고딕"/>
              </a:rPr>
              <a:t>2024  150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63040" y="4288536"/>
            <a:ext cx="1051560" cy="20116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60320" y="4261103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1">
                <a:solidFill>
                  <a:srgbClr val="2E75B6"/>
                </a:solidFill>
                <a:latin typeface="맑은 고딕"/>
              </a:rPr>
              <a:t>2025  250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4882896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50" b="1">
                <a:solidFill>
                  <a:srgbClr val="1B2230"/>
                </a:solidFill>
                <a:latin typeface="맑은 고딕"/>
              </a:rPr>
              <a:t>순이익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63040" y="4791456"/>
            <a:ext cx="2103120" cy="20116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11879" y="4764024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맑은 고딕"/>
              </a:rPr>
              <a:t>2024  500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63040" y="5038344"/>
            <a:ext cx="1766620" cy="20116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75380" y="5010912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1">
                <a:solidFill>
                  <a:srgbClr val="2E75B6"/>
                </a:solidFill>
                <a:latin typeface="맑은 고딕"/>
              </a:rPr>
              <a:t>2025  420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463040" y="3246120"/>
            <a:ext cx="0" cy="2020824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5486400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850" b="0">
                <a:solidFill>
                  <a:srgbClr val="7F7F7F"/>
                </a:solidFill>
                <a:latin typeface="맑은 고딕"/>
              </a:rPr>
              <a:t>B사 2025: 매출 9,500 / 영업이익 950 (10%) / 순이익 685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9520" y="1810512"/>
            <a:ext cx="36576" cy="868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99248" y="1737360"/>
            <a:ext cx="4123944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맑은 고딕"/>
              </a:rPr>
              <a:t>매출 +25%, 하지만 원가율 75% -&gt; 77%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B2230"/>
                </a:solidFill>
                <a:latin typeface="맑은 고딕"/>
              </a:rPr>
              <a:t>매출원가 6,000 -&gt; 7,700으로 매출보다 빨리 늘었다. 판관비율은 15%로 같다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89520" y="2999232"/>
            <a:ext cx="36576" cy="868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99248" y="2926080"/>
            <a:ext cx="4123944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맑은 고딕"/>
              </a:rPr>
              <a:t>영업이익 800억 제자리, 이익률은 10% -&gt; 8%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B2230"/>
                </a:solidFill>
                <a:latin typeface="맑은 고딕"/>
              </a:rPr>
              <a:t>B사는 매출 9,500억에 영업이익 950억 (10%). 규모는 비슷한데 이익은 뒤진다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89520" y="4187952"/>
            <a:ext cx="36576" cy="868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99248" y="4114800"/>
            <a:ext cx="4123944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맑은 고딕"/>
              </a:rPr>
              <a:t>이자비용 150 -&gt; 250억, 순이익 500 -&gt; 420억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B2230"/>
                </a:solidFill>
                <a:latin typeface="맑은 고딕"/>
              </a:rPr>
              <a:t>매출이 커졌는데 순이익은 16% 줄었다. 늘어난 이자가 성장을 먹고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1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2009067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2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2374" y="137160"/>
            <a:ext cx="1597587" cy="20116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3 조달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5295682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4 지급능력</a:t>
            </a:r>
          </a:p>
        </p:txBody>
      </p:sp>
      <p:sp>
        <p:nvSpPr>
          <p:cNvPr id="6" name="Rectangle 5"/>
          <p:cNvSpPr/>
          <p:nvPr/>
        </p:nvSpPr>
        <p:spPr>
          <a:xfrm>
            <a:off x="6938989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5 현금흐름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8582297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6 시나리오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25604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7 권고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38912"/>
            <a:ext cx="11457432" cy="77724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맑은 고딕"/>
              </a:rPr>
              <a:t>자산 1.0조의 60%가 부채이고, 그중 2,000억은 1년 안에 갚아야 한다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43584"/>
            <a:ext cx="11457432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298448"/>
            <a:ext cx="11457432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맑은 고딕"/>
              </a:rPr>
              <a:t>A사 재무상태표 구성 (2025년 말, 억원). 왼쪽은 돈이 어디에 묶여 있나, 오른쪽은 그 돈을 어떻게 조달했나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669280"/>
            <a:ext cx="11457432" cy="4572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</a:rPr>
              <a:t>시사점:  </a:t>
            </a:r>
            <a:r>
              <a:rPr sz="1200" b="1">
                <a:solidFill>
                  <a:srgbClr val="1F3864"/>
                </a:solidFill>
                <a:latin typeface="맑은 고딕"/>
              </a:rPr>
              <a:t>빚의 양보다 만기가 문제다 -&gt; 다음 장에서 1년 내 갚을 돈 3,500억을 막을 수 있는지 본다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263640"/>
            <a:ext cx="11457432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맑은 고딕"/>
              </a:rPr>
              <a:t>출처: 가상 데이터 (Coaching 공통 데이터셋), 2025년 말 기준, 단위 억원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69164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>
                <a:solidFill>
                  <a:srgbClr val="1F3864"/>
                </a:solidFill>
                <a:latin typeface="맑은 고딕"/>
              </a:rPr>
              <a:t>자산 10,000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011680"/>
            <a:ext cx="1097280" cy="263347"/>
          </a:xfrm>
          <a:prstGeom prst="rect">
            <a:avLst/>
          </a:prstGeom>
          <a:solidFill>
            <a:srgbClr val="7F7F7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275027"/>
            <a:ext cx="1097280" cy="493776"/>
          </a:xfrm>
          <a:prstGeom prst="rect">
            <a:avLst/>
          </a:prstGeom>
          <a:solidFill>
            <a:srgbClr val="BFBFB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768803"/>
            <a:ext cx="1097280" cy="460857"/>
          </a:xfrm>
          <a:prstGeom prst="rect">
            <a:avLst/>
          </a:prstGeom>
          <a:solidFill>
            <a:srgbClr val="BFBFB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229660"/>
            <a:ext cx="1097280" cy="98755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328416"/>
            <a:ext cx="1097280" cy="17117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040172"/>
            <a:ext cx="1097280" cy="263347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60" y="2042769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0">
                <a:solidFill>
                  <a:srgbClr val="1B2230"/>
                </a:solidFill>
                <a:latin typeface="맑은 고딕"/>
              </a:rPr>
              <a:t>현금  800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828800" y="2143353"/>
            <a:ext cx="91440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965960" y="2421331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0">
                <a:solidFill>
                  <a:srgbClr val="1B2230"/>
                </a:solidFill>
                <a:latin typeface="맑은 고딕"/>
              </a:rPr>
              <a:t>매출채권  1,500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828800" y="2521915"/>
            <a:ext cx="91440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965960" y="2898648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0">
                <a:solidFill>
                  <a:srgbClr val="1B2230"/>
                </a:solidFill>
                <a:latin typeface="맑은 고딕"/>
              </a:rPr>
              <a:t>재고  1,400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828800" y="2999232"/>
            <a:ext cx="91440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965960" y="3178454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0">
                <a:solidFill>
                  <a:srgbClr val="1B2230"/>
                </a:solidFill>
                <a:latin typeface="맑은 고딕"/>
              </a:rPr>
              <a:t>기타유동  300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828800" y="3279038"/>
            <a:ext cx="91440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965960" y="4083710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0">
                <a:solidFill>
                  <a:srgbClr val="1B2230"/>
                </a:solidFill>
                <a:latin typeface="맑은 고딕"/>
              </a:rPr>
              <a:t>유형자산  5,200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828800" y="4184294"/>
            <a:ext cx="91440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965960" y="5071262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0">
                <a:solidFill>
                  <a:srgbClr val="1B2230"/>
                </a:solidFill>
                <a:latin typeface="맑은 고딕"/>
              </a:rPr>
              <a:t>무형 + 기타  800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828800" y="5171846"/>
            <a:ext cx="91440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94360" y="2011680"/>
            <a:ext cx="0" cy="1316736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94360" y="2011680"/>
            <a:ext cx="91440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94360" y="3328416"/>
            <a:ext cx="91440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20040" y="3374136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1">
                <a:solidFill>
                  <a:srgbClr val="1F3864"/>
                </a:solidFill>
                <a:latin typeface="맑은 고딕"/>
              </a:rPr>
              <a:t>유동자산 4,000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169164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>
                <a:solidFill>
                  <a:srgbClr val="1F3864"/>
                </a:solidFill>
                <a:latin typeface="맑은 고딕"/>
              </a:rPr>
              <a:t>부채 + 자본 10,000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0" y="2011680"/>
            <a:ext cx="1097280" cy="395020"/>
          </a:xfrm>
          <a:prstGeom prst="rect">
            <a:avLst/>
          </a:prstGeom>
          <a:solidFill>
            <a:srgbClr val="BFBFB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846320" y="2406700"/>
            <a:ext cx="1097280" cy="658368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46320" y="3065068"/>
            <a:ext cx="1097280" cy="98755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46320" y="3163824"/>
            <a:ext cx="1097280" cy="724204"/>
          </a:xfrm>
          <a:prstGeom prst="rect">
            <a:avLst/>
          </a:prstGeom>
          <a:solidFill>
            <a:srgbClr val="BFBFB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846320" y="3888028"/>
            <a:ext cx="1097280" cy="98755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846320" y="3986784"/>
            <a:ext cx="1097280" cy="131673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0760" y="2108606"/>
            <a:ext cx="1234440" cy="20116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0">
                <a:solidFill>
                  <a:srgbClr val="1B2230"/>
                </a:solidFill>
                <a:latin typeface="맑은 고딕"/>
              </a:rPr>
              <a:t>매입채무  1,200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943600" y="2209190"/>
            <a:ext cx="91440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080760" y="2635300"/>
            <a:ext cx="1234440" cy="20116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1">
                <a:solidFill>
                  <a:srgbClr val="2E75B6"/>
                </a:solidFill>
                <a:latin typeface="맑은 고딕"/>
              </a:rPr>
              <a:t>단기차입  2,000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943600" y="2735884"/>
            <a:ext cx="91440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080760" y="3013862"/>
            <a:ext cx="1234440" cy="20116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0">
                <a:solidFill>
                  <a:srgbClr val="1B2230"/>
                </a:solidFill>
                <a:latin typeface="맑은 고딕"/>
              </a:rPr>
              <a:t>기타유동부채  300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943600" y="3114446"/>
            <a:ext cx="91440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080760" y="3425342"/>
            <a:ext cx="1234440" cy="20116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0">
                <a:solidFill>
                  <a:srgbClr val="1B2230"/>
                </a:solidFill>
                <a:latin typeface="맑은 고딕"/>
              </a:rPr>
              <a:t>장기차입  2,200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943600" y="3525926"/>
            <a:ext cx="91440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080760" y="3836822"/>
            <a:ext cx="1234440" cy="20116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0">
                <a:solidFill>
                  <a:srgbClr val="1B2230"/>
                </a:solidFill>
                <a:latin typeface="맑은 고딕"/>
              </a:rPr>
              <a:t>기타비유동  300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943600" y="3937406"/>
            <a:ext cx="91440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080760" y="4544568"/>
            <a:ext cx="1234440" cy="20116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0">
                <a:solidFill>
                  <a:srgbClr val="1B2230"/>
                </a:solidFill>
                <a:latin typeface="맑은 고딕"/>
              </a:rPr>
              <a:t>자본  4,000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943600" y="4645152"/>
            <a:ext cx="91440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709160" y="2011680"/>
            <a:ext cx="0" cy="1152144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709160" y="2011680"/>
            <a:ext cx="91440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709160" y="3163824"/>
            <a:ext cx="91440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383280" y="2103120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900" b="1">
                <a:solidFill>
                  <a:srgbClr val="1F3864"/>
                </a:solidFill>
                <a:latin typeface="맑은 고딕"/>
              </a:rPr>
              <a:t>유동부채 3,500</a:t>
            </a:r>
          </a:p>
          <a:p>
            <a:pPr algn="r"/>
            <a:r>
              <a:rPr sz="850" b="0">
                <a:solidFill>
                  <a:srgbClr val="1F3864"/>
                </a:solidFill>
                <a:latin typeface="맑은 고딕"/>
              </a:rPr>
              <a:t>1년 내 갚을 돈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4709160" y="3236976"/>
            <a:ext cx="0" cy="749808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709160" y="3986784"/>
            <a:ext cx="91440" cy="0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383280" y="3529584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900" b="1">
                <a:solidFill>
                  <a:srgbClr val="7F7F7F"/>
                </a:solidFill>
                <a:latin typeface="맑은 고딕"/>
              </a:rPr>
              <a:t>부채 6,000</a:t>
            </a:r>
          </a:p>
          <a:p>
            <a:pPr algn="r"/>
            <a:r>
              <a:rPr sz="850" b="0">
                <a:solidFill>
                  <a:srgbClr val="7F7F7F"/>
                </a:solidFill>
                <a:latin typeface="맑은 고딕"/>
              </a:rPr>
              <a:t>부채비율 150%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83280" y="4352544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900" b="1">
                <a:solidFill>
                  <a:srgbClr val="7F7F7F"/>
                </a:solidFill>
                <a:latin typeface="맑은 고딕"/>
              </a:rPr>
              <a:t>자본 4,000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5440680"/>
            <a:ext cx="6858000" cy="2286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850" b="0">
                <a:solidFill>
                  <a:srgbClr val="7F7F7F"/>
                </a:solidFill>
                <a:latin typeface="맑은 고딕"/>
              </a:rPr>
              <a:t>B사 참고: 부채비율 54%, 단기차입 600, 현금 2,500 (현금/단기차입 417%)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89520" y="1810512"/>
            <a:ext cx="36576" cy="868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99248" y="1737360"/>
            <a:ext cx="4123944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맑은 고딕"/>
              </a:rPr>
              <a:t>부채 6,000억, 부채비율 150% (B사 54%)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B2230"/>
                </a:solidFill>
                <a:latin typeface="맑은 고딕"/>
              </a:rPr>
              <a:t>같은 자산 1.0조인데 B사는 부채 3,500억. A사는 자본 4,000억의 1.5배를 빌렸다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589520" y="2999232"/>
            <a:ext cx="36576" cy="868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699248" y="2926080"/>
            <a:ext cx="4123944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맑은 고딕"/>
              </a:rPr>
              <a:t>단기차입 2,000억, 현금 800억으로는 40%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B2230"/>
                </a:solidFill>
                <a:latin typeface="맑은 고딕"/>
              </a:rPr>
              <a:t>1년 내 만기인 차입을 현금으로 못 갚는다. 은행이 만기를 연장해 줘야 돈다 (B사 417%)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589520" y="4187952"/>
            <a:ext cx="36576" cy="868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699248" y="4114800"/>
            <a:ext cx="4123944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맑은 고딕"/>
              </a:rPr>
              <a:t>자산의 52%가 유형자산 5,200억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B2230"/>
                </a:solidFill>
                <a:latin typeface="맑은 고딕"/>
              </a:rPr>
              <a:t>급할 때 팔아서 빚을 갚기 어려운 자산이다. 유동자산 4,000억이 버틸 수 있는 전부다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1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2009067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2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2374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3 조달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5295682" y="137160"/>
            <a:ext cx="1597587" cy="20116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4 지급능력</a:t>
            </a:r>
          </a:p>
        </p:txBody>
      </p:sp>
      <p:sp>
        <p:nvSpPr>
          <p:cNvPr id="6" name="Rectangle 5"/>
          <p:cNvSpPr/>
          <p:nvPr/>
        </p:nvSpPr>
        <p:spPr>
          <a:xfrm>
            <a:off x="6938989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5 현금흐름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8582297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6 시나리오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25604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7 권고</a:t>
            </a:r>
          </a:p>
        </p:txBody>
      </p:sp>
      <p:sp>
        <p:nvSpPr>
          <p:cNvPr id="9" name="Rectangle 8"/>
          <p:cNvSpPr/>
          <p:nvPr/>
        </p:nvSpPr>
        <p:spPr>
          <a:xfrm>
            <a:off x="9994392" y="402336"/>
            <a:ext cx="18288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2E75B6"/>
                </a:solidFill>
                <a:latin typeface="맑은 고딕"/>
              </a:rPr>
              <a:t>이번 주 과제 장 (모범답안)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38912"/>
            <a:ext cx="9445751" cy="77724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맑은 고딕"/>
              </a:rPr>
              <a:t>A사는 1년 내 갚을 돈 3,500억을 유동자산 4,000억으로 겨우 막지만, 재고를 빼면 900억이 모자란다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243584"/>
            <a:ext cx="11457432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298448"/>
            <a:ext cx="11457432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맑은 고딕"/>
              </a:rPr>
              <a:t>1년 내 재원 vs 1년 내 갚을 돈 3,500억 (범위를 좁혀가며, 2025년 말, 억원)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669280"/>
            <a:ext cx="11457432" cy="4572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</a:rPr>
              <a:t>시사점:  </a:t>
            </a:r>
            <a:r>
              <a:rPr sz="1200" b="1">
                <a:solidFill>
                  <a:srgbClr val="1F3864"/>
                </a:solidFill>
                <a:latin typeface="맑은 고딕"/>
              </a:rPr>
              <a:t>차환이 막히면 재고 현금화 속도가 곧 지급능력이다 -&gt; 다음 장 (현금흐름)에서 재고와 채권이 왜 묶였는지 본다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263640"/>
            <a:ext cx="11457432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맑은 고딕"/>
              </a:rPr>
              <a:t>출처: 가상 데이터 (Coaching 공통 데이터셋), 2025년 말 기준, 단위 억원. 당좌자산 = 유동자산 - 재고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08960"/>
            <a:ext cx="1234440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1년 내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갚을 돈 3,500억을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막을 수 있나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246370" y="1691639"/>
            <a:ext cx="0" cy="3794761"/>
          </a:xfrm>
          <a:prstGeom prst="line">
            <a:avLst/>
          </a:prstGeom>
          <a:ln w="12700">
            <a:solidFill>
              <a:srgbClr val="1F386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97730" y="1490472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850" b="1">
                <a:solidFill>
                  <a:srgbClr val="1F3864"/>
                </a:solidFill>
                <a:latin typeface="맑은 고딕"/>
              </a:rPr>
              <a:t>갚을 돈 3,500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65960" y="2164079"/>
            <a:ext cx="1005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>
                <a:solidFill>
                  <a:srgbClr val="1F3864"/>
                </a:solidFill>
                <a:latin typeface="맑은 고딕"/>
              </a:rPr>
              <a:t>재고 포함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1600200" y="2392679"/>
            <a:ext cx="365760" cy="1219201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246120" y="2081783"/>
            <a:ext cx="2286000" cy="2743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46120" y="2429255"/>
            <a:ext cx="2000250" cy="27432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9272" y="2109215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유동자산 4,000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9272" y="2456687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850" b="0">
                <a:solidFill>
                  <a:srgbClr val="1B2230"/>
                </a:solidFill>
                <a:latin typeface="맑은 고딕"/>
              </a:rPr>
              <a:t>갚을 돈 3,500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2118360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  <a:latin typeface="맑은 고딕"/>
              </a:rPr>
              <a:t>114%</a:t>
            </a:r>
          </a:p>
          <a:p>
            <a:pPr algn="l"/>
            <a:r>
              <a:rPr sz="1000" b="1">
                <a:solidFill>
                  <a:srgbClr val="1F3864"/>
                </a:solidFill>
                <a:latin typeface="맑은 고딕"/>
              </a:rPr>
              <a:t>막는다 (빠듯)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965960" y="3002280"/>
            <a:ext cx="50292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965960" y="3383279"/>
            <a:ext cx="1005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>
                <a:solidFill>
                  <a:srgbClr val="1F3864"/>
                </a:solidFill>
                <a:latin typeface="맑은 고딕"/>
              </a:rPr>
              <a:t>재고 제외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1600200" y="3611879"/>
            <a:ext cx="365760" cy="1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246120" y="3300983"/>
            <a:ext cx="1485900" cy="2743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46120" y="3648455"/>
            <a:ext cx="2000250" cy="27432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9272" y="3328415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당좌자산 2,600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9272" y="3675887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850" b="0">
                <a:solidFill>
                  <a:srgbClr val="1B2230"/>
                </a:solidFill>
                <a:latin typeface="맑은 고딕"/>
              </a:rPr>
              <a:t>갚을 돈 3,500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3337559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1300" b="1">
                <a:solidFill>
                  <a:srgbClr val="C0504D"/>
                </a:solidFill>
                <a:latin typeface="맑은 고딕"/>
              </a:rPr>
              <a:t>74%</a:t>
            </a:r>
          </a:p>
          <a:p>
            <a:pPr algn="l"/>
            <a:r>
              <a:rPr sz="1000" b="1">
                <a:solidFill>
                  <a:srgbClr val="C0504D"/>
                </a:solidFill>
                <a:latin typeface="맑은 고딕"/>
              </a:rPr>
              <a:t>900억 부족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965960" y="4221479"/>
            <a:ext cx="50292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965960" y="4602480"/>
            <a:ext cx="1005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>
                <a:solidFill>
                  <a:srgbClr val="1F3864"/>
                </a:solidFill>
                <a:latin typeface="맑은 고딕"/>
              </a:rPr>
              <a:t>현금만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600200" y="3611880"/>
            <a:ext cx="365760" cy="1219200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246120" y="4520184"/>
            <a:ext cx="457200" cy="2743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46120" y="4867656"/>
            <a:ext cx="2000250" cy="27432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58183" y="45476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1">
                <a:solidFill>
                  <a:srgbClr val="2E75B6"/>
                </a:solidFill>
                <a:latin typeface="맑은 고딕"/>
              </a:rPr>
              <a:t>현금 800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9272" y="4895088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850" b="0">
                <a:solidFill>
                  <a:srgbClr val="1B2230"/>
                </a:solidFill>
                <a:latin typeface="맑은 고딕"/>
              </a:rPr>
              <a:t>갚을 돈 3,500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4556760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1300" b="1">
                <a:solidFill>
                  <a:srgbClr val="C0504D"/>
                </a:solidFill>
                <a:latin typeface="맑은 고딕"/>
              </a:rPr>
              <a:t>23%</a:t>
            </a:r>
          </a:p>
          <a:p>
            <a:pPr algn="l"/>
            <a:r>
              <a:rPr sz="1000" b="1">
                <a:solidFill>
                  <a:srgbClr val="C0504D"/>
                </a:solidFill>
                <a:latin typeface="맑은 고딕"/>
              </a:rPr>
              <a:t>2,700억 부족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89520" y="1810512"/>
            <a:ext cx="36576" cy="868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99248" y="1737360"/>
            <a:ext cx="4123944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맑은 고딕"/>
              </a:rPr>
              <a:t>겨우 막는다: 유동비율 114%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B2230"/>
                </a:solidFill>
                <a:latin typeface="맑은 고딕"/>
              </a:rPr>
              <a:t>관행 기준 150%에 못 미치고 B사 (220%)의 절반. 유동자산을 다 팔아야 1년치 빚을 갚는다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9520" y="2999232"/>
            <a:ext cx="36576" cy="868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99248" y="2926080"/>
            <a:ext cx="4123944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맑은 고딕"/>
              </a:rPr>
              <a:t>재고를 빼면 못 막는다: 당좌비율 74%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B2230"/>
                </a:solidFill>
                <a:latin typeface="맑은 고딕"/>
              </a:rPr>
              <a:t>재고 1,400억이 제때 안 팔리면 900억 부족. 화장품 ODM 재고는 할인 없이 바로 현금이 되기 어렵다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89520" y="4187952"/>
            <a:ext cx="36576" cy="868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99248" y="4114800"/>
            <a:ext cx="4123944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맑은 고딕"/>
              </a:rPr>
              <a:t>현금으로는 단기차입의 40%뿐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B2230"/>
                </a:solidFill>
                <a:latin typeface="맑은 고딕"/>
              </a:rPr>
              <a:t>단기차입 2,000억 대비 현금 800억. 결국 은행 차환에 달려 있다 (B사는 417%)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1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2009067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2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2374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3 조달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5295682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4 지급능력</a:t>
            </a:r>
          </a:p>
        </p:txBody>
      </p:sp>
      <p:sp>
        <p:nvSpPr>
          <p:cNvPr id="6" name="Rectangle 5"/>
          <p:cNvSpPr/>
          <p:nvPr/>
        </p:nvSpPr>
        <p:spPr>
          <a:xfrm>
            <a:off x="6938989" y="137160"/>
            <a:ext cx="1597587" cy="20116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5 현금흐름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8582297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6 시나리오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25604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7 권고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38912"/>
            <a:ext cx="11457432" cy="77724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맑은 고딕"/>
              </a:rPr>
              <a:t>순이익 420억 중 영업현금으로 남은 건 150억, 채권과 재고가 700억을 묶었다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43584"/>
            <a:ext cx="11457432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298448"/>
            <a:ext cx="11457432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맑은 고딕"/>
              </a:rPr>
              <a:t>A사 2025년 순이익 -&gt; 영업현금흐름 브릿지 (억원)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669280"/>
            <a:ext cx="11457432" cy="4572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</a:rPr>
              <a:t>시사점:  </a:t>
            </a:r>
            <a:r>
              <a:rPr sz="1200" b="1">
                <a:solidFill>
                  <a:srgbClr val="1F3864"/>
                </a:solidFill>
                <a:latin typeface="맑은 고딕"/>
              </a:rPr>
              <a:t>영업현금 150억으로는 이자 250억도 못 낸다 -&gt; 차환이 막히는 경우를 다음 장에서 본다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263640"/>
            <a:ext cx="11457432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맑은 고딕"/>
              </a:rPr>
              <a:t>출처: 가상 데이터 (Coaching 공통 데이터셋), 2025년 말 기준, 단위 억원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737" y="3694176"/>
            <a:ext cx="404948" cy="115214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857" y="3456432"/>
            <a:ext cx="770708" cy="21945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950" b="1">
                <a:solidFill>
                  <a:srgbClr val="1F3864"/>
                </a:solidFill>
                <a:latin typeface="맑은 고딕"/>
              </a:rPr>
              <a:t>420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857" y="4892040"/>
            <a:ext cx="770708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850" b="0">
                <a:solidFill>
                  <a:srgbClr val="1B2230"/>
                </a:solidFill>
                <a:latin typeface="맑은 고딕"/>
              </a:rPr>
              <a:t>순이익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25880" y="2322575"/>
            <a:ext cx="404948" cy="13716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2084831"/>
            <a:ext cx="770708" cy="21945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950" b="1">
                <a:solidFill>
                  <a:srgbClr val="7F7F7F"/>
                </a:solidFill>
                <a:latin typeface="맑은 고딕"/>
              </a:rPr>
              <a:t>+500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892040"/>
            <a:ext cx="770708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850" b="0">
                <a:solidFill>
                  <a:srgbClr val="1B2230"/>
                </a:solidFill>
                <a:latin typeface="맑은 고딕"/>
              </a:rPr>
              <a:t>감가상각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77685" y="3694176"/>
            <a:ext cx="248195" cy="0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979022" y="2322575"/>
            <a:ext cx="404948" cy="10972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96142" y="2084831"/>
            <a:ext cx="770708" cy="21945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950" b="1">
                <a:solidFill>
                  <a:srgbClr val="2E75B6"/>
                </a:solidFill>
                <a:latin typeface="맑은 고딕"/>
              </a:rPr>
              <a:t>-400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96142" y="4892040"/>
            <a:ext cx="770708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850" b="0">
                <a:solidFill>
                  <a:srgbClr val="1B2230"/>
                </a:solidFill>
                <a:latin typeface="맑은 고딕"/>
              </a:rPr>
              <a:t>매출채권 증가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30828" y="2322575"/>
            <a:ext cx="248194" cy="0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632165" y="3419856"/>
            <a:ext cx="404948" cy="8229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49285" y="3182111"/>
            <a:ext cx="770708" cy="21945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950" b="1">
                <a:solidFill>
                  <a:srgbClr val="2E75B6"/>
                </a:solidFill>
                <a:latin typeface="맑은 고딕"/>
              </a:rPr>
              <a:t>-300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49285" y="4892040"/>
            <a:ext cx="770708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850" b="0">
                <a:solidFill>
                  <a:srgbClr val="1B2230"/>
                </a:solidFill>
                <a:latin typeface="맑은 고딕"/>
              </a:rPr>
              <a:t>재고 증가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383971" y="3419856"/>
            <a:ext cx="248194" cy="0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285308" y="3968496"/>
            <a:ext cx="404948" cy="27432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2428" y="3730752"/>
            <a:ext cx="770708" cy="21945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950" b="1">
                <a:solidFill>
                  <a:srgbClr val="7F7F7F"/>
                </a:solidFill>
                <a:latin typeface="맑은 고딕"/>
              </a:rPr>
              <a:t>+100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2428" y="4892040"/>
            <a:ext cx="770708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850" b="0">
                <a:solidFill>
                  <a:srgbClr val="1B2230"/>
                </a:solidFill>
                <a:latin typeface="맑은 고딕"/>
              </a:rPr>
              <a:t>매입채무 증가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037114" y="4242816"/>
            <a:ext cx="248194" cy="0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3938451" y="3968496"/>
            <a:ext cx="404948" cy="4663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55571" y="3730752"/>
            <a:ext cx="770708" cy="21945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950" b="1">
                <a:solidFill>
                  <a:srgbClr val="7F7F7F"/>
                </a:solidFill>
                <a:latin typeface="맑은 고딕"/>
              </a:rPr>
              <a:t>-170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55571" y="4892040"/>
            <a:ext cx="770708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850" b="0">
                <a:solidFill>
                  <a:srgbClr val="1B2230"/>
                </a:solidFill>
                <a:latin typeface="맑은 고딕"/>
              </a:rPr>
              <a:t>기타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690257" y="3968496"/>
            <a:ext cx="248194" cy="0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4591594" y="4434840"/>
            <a:ext cx="404948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08714" y="4197096"/>
            <a:ext cx="770708" cy="21945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950" b="1">
                <a:solidFill>
                  <a:srgbClr val="1F3864"/>
                </a:solidFill>
                <a:latin typeface="맑은 고딕"/>
              </a:rPr>
              <a:t>150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08714" y="4892040"/>
            <a:ext cx="770708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850" b="0">
                <a:solidFill>
                  <a:srgbClr val="1B2230"/>
                </a:solidFill>
                <a:latin typeface="맑은 고딕"/>
              </a:rPr>
              <a:t>영업CF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343400" y="4434840"/>
            <a:ext cx="248194" cy="0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48640" y="4846320"/>
            <a:ext cx="4572000" cy="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979022" y="1911095"/>
            <a:ext cx="1058092" cy="0"/>
          </a:xfrm>
          <a:prstGeom prst="line">
            <a:avLst/>
          </a:prstGeom>
          <a:ln w="127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979022" y="1911095"/>
            <a:ext cx="0" cy="73152"/>
          </a:xfrm>
          <a:prstGeom prst="line">
            <a:avLst/>
          </a:prstGeom>
          <a:ln w="127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037114" y="1911095"/>
            <a:ext cx="0" cy="73152"/>
          </a:xfrm>
          <a:prstGeom prst="line">
            <a:avLst/>
          </a:prstGeom>
          <a:ln w="127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704702" y="1673351"/>
            <a:ext cx="1606731" cy="21945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900" b="1">
                <a:solidFill>
                  <a:srgbClr val="2E75B6"/>
                </a:solidFill>
                <a:latin typeface="맑은 고딕"/>
              </a:rPr>
              <a:t>채권 + 재고에 700억이 묶임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94960" y="1737360"/>
            <a:ext cx="182880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394960" y="1737360"/>
            <a:ext cx="1828800" cy="3657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0" y="182880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1">
                <a:solidFill>
                  <a:srgbClr val="1F3864"/>
                </a:solidFill>
                <a:latin typeface="맑은 고딕"/>
              </a:rPr>
              <a:t>그 아래 투자와 조달 (2025)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0" y="21945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50" b="0">
                <a:solidFill>
                  <a:srgbClr val="1B2230"/>
                </a:solidFill>
                <a:latin typeface="맑은 고딕"/>
              </a:rPr>
              <a:t>영업CF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21945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맑은 고딕"/>
              </a:rPr>
              <a:t>150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0" y="25603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50" b="0">
                <a:solidFill>
                  <a:srgbClr val="1B2230"/>
                </a:solidFill>
                <a:latin typeface="맑은 고딕"/>
              </a:rPr>
              <a:t>CAPEX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25603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1">
                <a:solidFill>
                  <a:srgbClr val="C0504D"/>
                </a:solidFill>
                <a:latin typeface="맑은 고딕"/>
              </a:rPr>
              <a:t>-1,800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2926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50" b="0">
                <a:solidFill>
                  <a:srgbClr val="1B2230"/>
                </a:solidFill>
                <a:latin typeface="맑은 고딕"/>
              </a:rPr>
              <a:t>FCF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2926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1">
                <a:solidFill>
                  <a:srgbClr val="C0504D"/>
                </a:solidFill>
                <a:latin typeface="맑은 고딕"/>
              </a:rPr>
              <a:t>-1,650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486400" y="2889504"/>
            <a:ext cx="1645920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486400" y="32918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50" b="0">
                <a:solidFill>
                  <a:srgbClr val="1B2230"/>
                </a:solidFill>
                <a:latin typeface="맑은 고딕"/>
              </a:rPr>
              <a:t>차입 순증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32918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1">
                <a:solidFill>
                  <a:srgbClr val="2E75B6"/>
                </a:solidFill>
                <a:latin typeface="맑은 고딕"/>
              </a:rPr>
              <a:t>+1,700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0" y="36576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50" b="0">
                <a:solidFill>
                  <a:srgbClr val="1B2230"/>
                </a:solidFill>
                <a:latin typeface="맑은 고딕"/>
              </a:rPr>
              <a:t>배당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36576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1">
                <a:solidFill>
                  <a:srgbClr val="1B2230"/>
                </a:solidFill>
                <a:latin typeface="맑은 고딕"/>
              </a:rPr>
              <a:t>-200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0" y="40233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50" b="0">
                <a:solidFill>
                  <a:srgbClr val="1B2230"/>
                </a:solidFill>
                <a:latin typeface="맑은 고딕"/>
              </a:rPr>
              <a:t>현금 순증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7920" y="40233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1">
                <a:solidFill>
                  <a:srgbClr val="C0504D"/>
                </a:solidFill>
                <a:latin typeface="맑은 고딕"/>
              </a:rPr>
              <a:t>-150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486400" y="4370832"/>
            <a:ext cx="1645920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486400" y="443484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1">
                <a:solidFill>
                  <a:srgbClr val="1F3864"/>
                </a:solidFill>
                <a:latin typeface="맑은 고딕"/>
              </a:rPr>
              <a:t>공장 1,800억을 빚 1,700억으로 지었다. 현금은 950 -&gt; 800억으로 줄었다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89520" y="1810512"/>
            <a:ext cx="36576" cy="868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99248" y="1737360"/>
            <a:ext cx="4123944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맑은 고딕"/>
              </a:rPr>
              <a:t>순이익 420억이 영업현금 150억으로 줄었다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B2230"/>
                </a:solidFill>
                <a:latin typeface="맑은 고딕"/>
              </a:rPr>
              <a:t>감가상각 500억을 더해도, 매출채권 +400억과 재고 +300억이 현금을 삼켰다. 매출 25% 성장의 대가다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89520" y="2999232"/>
            <a:ext cx="36576" cy="868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99248" y="2926080"/>
            <a:ext cx="4123944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맑은 고딕"/>
              </a:rPr>
              <a:t>FCF -1,650억, 공장은 빚으로 지었다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B2230"/>
                </a:solidFill>
                <a:latin typeface="맑은 고딕"/>
              </a:rPr>
              <a:t>CAPEX 1,800억에 영업현금은 150억. 부족분은 차입 순증 1,700억으로 메웠고 배당 200억까지 나갔다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89520" y="4187952"/>
            <a:ext cx="36576" cy="868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699248" y="4114800"/>
            <a:ext cx="4123944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맑은 고딕"/>
              </a:rPr>
              <a:t>영업현금 150억 &lt; 이자비용 250억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B2230"/>
                </a:solidFill>
                <a:latin typeface="맑은 고딕"/>
              </a:rPr>
              <a:t>영업에서 번 현금으로 이자도 못 내는 상태. 차환이 끊기면 버틸 자체 현금창출력이 없다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1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2009067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2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2374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3 조달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5295682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4 지급능력</a:t>
            </a:r>
          </a:p>
        </p:txBody>
      </p:sp>
      <p:sp>
        <p:nvSpPr>
          <p:cNvPr id="6" name="Rectangle 5"/>
          <p:cNvSpPr/>
          <p:nvPr/>
        </p:nvSpPr>
        <p:spPr>
          <a:xfrm>
            <a:off x="6938989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5 현금흐름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8582297" y="137160"/>
            <a:ext cx="1597587" cy="20116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6 시나리오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25604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7 권고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38912"/>
            <a:ext cx="11457432" cy="77724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맑은 고딕"/>
              </a:rPr>
              <a:t>단기차입 차환이 막히면 3개월 안에 현금이 바닥난다 (가정)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43584"/>
            <a:ext cx="11457432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298448"/>
            <a:ext cx="11457432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맑은 고딕"/>
              </a:rPr>
              <a:t>최악 시나리오 진행 경로와 시나리오별 비교. '가정'이 붙은 숫자는 데이터셋이 아닌 보수적 추정치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669280"/>
            <a:ext cx="11457432" cy="4572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</a:rPr>
              <a:t>시사점:  </a:t>
            </a:r>
            <a:r>
              <a:rPr sz="1200" b="1">
                <a:solidFill>
                  <a:srgbClr val="1F3864"/>
                </a:solidFill>
                <a:latin typeface="맑은 고딕"/>
              </a:rPr>
              <a:t>우리가 통제할 수 있는 건 결제 조건뿐이다 -&gt; 마지막 장에서 결제 조건 옵션을 비교한다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263640"/>
            <a:ext cx="11457432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맑은 고딕"/>
              </a:rPr>
              <a:t>출처: 가상 데이터 (Coaching 공통 데이터셋), 2025년 말 기준, 단위 억원</a:t>
            </a:r>
          </a:p>
        </p:txBody>
      </p:sp>
      <p:sp>
        <p:nvSpPr>
          <p:cNvPr id="14" name="Chevron 13"/>
          <p:cNvSpPr/>
          <p:nvPr/>
        </p:nvSpPr>
        <p:spPr>
          <a:xfrm>
            <a:off x="365760" y="1783080"/>
            <a:ext cx="1389888" cy="54864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783080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차환 거절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404872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1">
                <a:solidFill>
                  <a:srgbClr val="1F3864"/>
                </a:solidFill>
                <a:latin typeface="맑은 고딕"/>
              </a:rPr>
              <a:t>M0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624328"/>
            <a:ext cx="1234440" cy="6400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850" b="0">
                <a:solidFill>
                  <a:srgbClr val="1B2230"/>
                </a:solidFill>
                <a:latin typeface="맑은 고딕"/>
              </a:rPr>
              <a:t>은행이 단기차입 2,000억 만기 연장을 거부</a:t>
            </a:r>
          </a:p>
        </p:txBody>
      </p:sp>
      <p:sp>
        <p:nvSpPr>
          <p:cNvPr id="18" name="Chevron 17"/>
          <p:cNvSpPr/>
          <p:nvPr/>
        </p:nvSpPr>
        <p:spPr>
          <a:xfrm>
            <a:off x="1737360" y="1783080"/>
            <a:ext cx="1389888" cy="548640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38528" y="1783080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1000" b="1">
                <a:solidFill>
                  <a:srgbClr val="1B2230"/>
                </a:solidFill>
                <a:latin typeface="맑은 고딕"/>
              </a:rPr>
              <a:t>현금 800억 소진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2404872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1">
                <a:solidFill>
                  <a:srgbClr val="1F3864"/>
                </a:solidFill>
                <a:latin typeface="맑은 고딕"/>
              </a:rPr>
              <a:t>M1~3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2624328"/>
            <a:ext cx="1234440" cy="6400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850" b="0">
                <a:solidFill>
                  <a:srgbClr val="1B2230"/>
                </a:solidFill>
                <a:latin typeface="맑은 고딕"/>
              </a:rPr>
              <a:t>월 순유출 270억 (가정)으로 약 3개월</a:t>
            </a:r>
          </a:p>
        </p:txBody>
      </p:sp>
      <p:sp>
        <p:nvSpPr>
          <p:cNvPr id="22" name="Chevron 21"/>
          <p:cNvSpPr/>
          <p:nvPr/>
        </p:nvSpPr>
        <p:spPr>
          <a:xfrm>
            <a:off x="3108960" y="1783080"/>
            <a:ext cx="1389888" cy="548640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10128" y="1783080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1000" b="1">
                <a:solidFill>
                  <a:srgbClr val="1B2230"/>
                </a:solidFill>
                <a:latin typeface="맑은 고딕"/>
              </a:rPr>
              <a:t>재고 할인 판매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79" y="2404872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1">
                <a:solidFill>
                  <a:srgbClr val="1F3864"/>
                </a:solidFill>
                <a:latin typeface="맑은 고딕"/>
              </a:rPr>
              <a:t>M3~4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79" y="2624328"/>
            <a:ext cx="1234440" cy="6400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850" b="0">
                <a:solidFill>
                  <a:srgbClr val="1B2230"/>
                </a:solidFill>
                <a:latin typeface="맑은 고딕"/>
              </a:rPr>
              <a:t>재고 1,400억을 할인 처분해 현금 확보</a:t>
            </a:r>
          </a:p>
        </p:txBody>
      </p:sp>
      <p:sp>
        <p:nvSpPr>
          <p:cNvPr id="26" name="Chevron 25"/>
          <p:cNvSpPr/>
          <p:nvPr/>
        </p:nvSpPr>
        <p:spPr>
          <a:xfrm>
            <a:off x="4480560" y="1783080"/>
            <a:ext cx="1389888" cy="548640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81728" y="1783080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1000" b="1">
                <a:solidFill>
                  <a:srgbClr val="1B2230"/>
                </a:solidFill>
                <a:latin typeface="맑은 고딕"/>
              </a:rPr>
              <a:t>납기 지연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2404872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1">
                <a:solidFill>
                  <a:srgbClr val="1F3864"/>
                </a:solidFill>
                <a:latin typeface="맑은 고딕"/>
              </a:rPr>
              <a:t>M4~5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2624328"/>
            <a:ext cx="1234440" cy="6400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850" b="0">
                <a:solidFill>
                  <a:srgbClr val="1B2230"/>
                </a:solidFill>
                <a:latin typeface="맑은 고딕"/>
              </a:rPr>
              <a:t>원료 구매 차질로 생산 지연</a:t>
            </a:r>
          </a:p>
        </p:txBody>
      </p:sp>
      <p:sp>
        <p:nvSpPr>
          <p:cNvPr id="30" name="Chevron 29"/>
          <p:cNvSpPr/>
          <p:nvPr/>
        </p:nvSpPr>
        <p:spPr>
          <a:xfrm>
            <a:off x="5852160" y="1783080"/>
            <a:ext cx="1389888" cy="548640"/>
          </a:xfrm>
          <a:prstGeom prst="chevron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53328" y="1783080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우리 발주 차질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2404872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1">
                <a:solidFill>
                  <a:srgbClr val="1F3864"/>
                </a:solidFill>
                <a:latin typeface="맑은 고딕"/>
              </a:rPr>
              <a:t>M5~6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2624328"/>
            <a:ext cx="1234440" cy="6400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850" b="0">
                <a:solidFill>
                  <a:srgbClr val="1B2230"/>
                </a:solidFill>
                <a:latin typeface="맑은 고딕"/>
              </a:rPr>
              <a:t>선급금 손실 + 공급 공백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3154680"/>
            <a:ext cx="6858000" cy="2286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1">
                <a:solidFill>
                  <a:srgbClr val="1F3864"/>
                </a:solidFill>
                <a:latin typeface="맑은 고딕"/>
              </a:rPr>
              <a:t>시나리오 비교 (억원)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429000"/>
            <a:ext cx="173736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103120" y="3429000"/>
            <a:ext cx="1706879" cy="365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기본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09999" y="3429000"/>
            <a:ext cx="1706879" cy="365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하방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16879" y="3429000"/>
            <a:ext cx="1706879" cy="365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최악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65760" y="4160520"/>
            <a:ext cx="68580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65760" y="3794760"/>
            <a:ext cx="17373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1">
                <a:solidFill>
                  <a:srgbClr val="1B2230"/>
                </a:solidFill>
                <a:latin typeface="맑은 고딕"/>
              </a:rPr>
              <a:t>차환 결과 (가정)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20" y="3794760"/>
            <a:ext cx="1706879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1B2230"/>
                </a:solidFill>
                <a:latin typeface="맑은 고딕"/>
              </a:rPr>
              <a:t>전액 연장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09999" y="3794760"/>
            <a:ext cx="1706879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1B2230"/>
                </a:solidFill>
                <a:latin typeface="맑은 고딕"/>
              </a:rPr>
              <a:t>50% 연장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16879" y="3794760"/>
            <a:ext cx="1706879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50" b="1">
                <a:solidFill>
                  <a:srgbClr val="1B2230"/>
                </a:solidFill>
                <a:latin typeface="맑은 고딕"/>
              </a:rPr>
              <a:t>전액 거절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65760" y="4526280"/>
            <a:ext cx="68580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65760" y="4160520"/>
            <a:ext cx="17373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1">
                <a:solidFill>
                  <a:srgbClr val="1B2230"/>
                </a:solidFill>
                <a:latin typeface="맑은 고딕"/>
              </a:rPr>
              <a:t>월 현금 순유출 (가정)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4160520"/>
            <a:ext cx="1706879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1B2230"/>
                </a:solidFill>
                <a:latin typeface="맑은 고딕"/>
              </a:rP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09999" y="4160520"/>
            <a:ext cx="1706879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1B2230"/>
                </a:solidFill>
                <a:latin typeface="맑은 고딕"/>
              </a:rPr>
              <a:t>130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16879" y="4160520"/>
            <a:ext cx="1706879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50" b="1">
                <a:solidFill>
                  <a:srgbClr val="C0504D"/>
                </a:solidFill>
                <a:latin typeface="맑은 고딕"/>
              </a:rPr>
              <a:t>270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65760" y="4892040"/>
            <a:ext cx="68580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65760" y="4526280"/>
            <a:ext cx="17373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1">
                <a:solidFill>
                  <a:srgbClr val="1B2230"/>
                </a:solidFill>
                <a:latin typeface="맑은 고딕"/>
              </a:rPr>
              <a:t>현금 800억 소진 시점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03120" y="4526280"/>
            <a:ext cx="1706879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1B2230"/>
                </a:solidFill>
                <a:latin typeface="맑은 고딕"/>
              </a:rPr>
              <a:t>소진 없음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09999" y="4526280"/>
            <a:ext cx="1706879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1B2230"/>
                </a:solidFill>
                <a:latin typeface="맑은 고딕"/>
              </a:rPr>
              <a:t>약 6개월 (가정)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16879" y="4526280"/>
            <a:ext cx="1706879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50" b="1">
                <a:solidFill>
                  <a:srgbClr val="C0504D"/>
                </a:solidFill>
                <a:latin typeface="맑은 고딕"/>
              </a:rPr>
              <a:t>약 3개월 (가정)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65760" y="5257800"/>
            <a:ext cx="68580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65760" y="4892040"/>
            <a:ext cx="17373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1">
                <a:solidFill>
                  <a:srgbClr val="1B2230"/>
                </a:solidFill>
                <a:latin typeface="맑은 고딕"/>
              </a:rPr>
              <a:t>우리 발주 영향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03120" y="4892040"/>
            <a:ext cx="1706879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1B2230"/>
                </a:solidFill>
                <a:latin typeface="맑은 고딕"/>
              </a:rPr>
              <a:t>없음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09999" y="4892040"/>
            <a:ext cx="1706879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1B2230"/>
                </a:solidFill>
                <a:latin typeface="맑은 고딕"/>
              </a:rPr>
              <a:t>납기 지연 가능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16879" y="4892040"/>
            <a:ext cx="1706879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50" b="1">
                <a:solidFill>
                  <a:srgbClr val="C0504D"/>
                </a:solidFill>
                <a:latin typeface="맑은 고딕"/>
              </a:rPr>
              <a:t>납품 차질 + 선급금 손실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530352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800" b="0">
                <a:solidFill>
                  <a:srgbClr val="7F7F7F"/>
                </a:solidFill>
                <a:latin typeface="맑은 고딕"/>
              </a:rPr>
              <a:t>가정 근거: 최악 시 월 순유출 270억 = 월 이자 약 21억 (250/12) + 차입 월 상환 약 170억 (2,000/12) + 운전자금 약 80억. 하방은 그 절반 수준으로 가정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89520" y="1810512"/>
            <a:ext cx="36576" cy="868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99248" y="1737360"/>
            <a:ext cx="4123944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맑은 고딕"/>
              </a:rPr>
              <a:t>방아쇠는 은행의 차환 거절 하나다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B2230"/>
                </a:solidFill>
                <a:latin typeface="맑은 고딕"/>
              </a:rPr>
              <a:t>단기차입 2,000억 중 현금으로 갚을 수 있는 건 800억. 은행이 연장을 멈추는 순간 경로가 시작된다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589520" y="2999232"/>
            <a:ext cx="36576" cy="868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99248" y="2926080"/>
            <a:ext cx="4123944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맑은 고딕"/>
              </a:rPr>
              <a:t>현금이 바닥나기까지 약 3개월 (가정)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B2230"/>
                </a:solidFill>
                <a:latin typeface="맑은 고딕"/>
              </a:rPr>
              <a:t>영업현금 150억으로는 메울 수 없다. 재고 할인 판매가 유일한 자구책이고 그때 우리 납기가 흔들린다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89520" y="4187952"/>
            <a:ext cx="36576" cy="868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99248" y="4114800"/>
            <a:ext cx="4123944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맑은 고딕"/>
              </a:rPr>
              <a:t>우리 노출은 선급금과 6개월 내 납기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B2230"/>
                </a:solidFill>
                <a:latin typeface="맑은 고딕"/>
              </a:rPr>
              <a:t>1년치 선급 후 최악 경로면 선급금 손실과 공급 공백이 동시에 온다. 발주 구조를 바꾸면 둘 다 줄일 수 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1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2009067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2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2374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3 조달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5295682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4 지급능력</a:t>
            </a:r>
          </a:p>
        </p:txBody>
      </p:sp>
      <p:sp>
        <p:nvSpPr>
          <p:cNvPr id="6" name="Rectangle 5"/>
          <p:cNvSpPr/>
          <p:nvPr/>
        </p:nvSpPr>
        <p:spPr>
          <a:xfrm>
            <a:off x="6938989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5 현금흐름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8582297" y="137160"/>
            <a:ext cx="1597587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>
                <a:solidFill>
                  <a:srgbClr val="7F7F7F"/>
                </a:solidFill>
                <a:latin typeface="맑은 고딕"/>
              </a:rPr>
              <a:t>6 시나리오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25604" y="137160"/>
            <a:ext cx="1597587" cy="20116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7 권고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38912"/>
            <a:ext cx="11457432" cy="77724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맑은 고딕"/>
              </a:rPr>
              <a:t>선급금을 줄이고 분할 납품으로 바꾸면 발주는 유지하면서 리스크를 대부분 덜 수 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43584"/>
            <a:ext cx="11457432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298448"/>
            <a:ext cx="11457432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맑은 고딕"/>
              </a:rPr>
              <a:t>결제 조건 옵션 평가 (● 좋음  ○ 나쁨, 정성 평가)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669280"/>
            <a:ext cx="11457432" cy="4572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</a:rPr>
              <a:t>시사점:  </a:t>
            </a:r>
            <a:r>
              <a:rPr sz="1200" b="1">
                <a:solidFill>
                  <a:srgbClr val="1F3864"/>
                </a:solidFill>
                <a:latin typeface="맑은 고딕"/>
              </a:rPr>
              <a:t>발주는 승인, 조건은 변경. 본부장 결정 사항: 선급금 비율과 분할 횟수, 분기 재점검 주관 부서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263640"/>
            <a:ext cx="11457432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맑은 고딕"/>
              </a:rPr>
              <a:t>출처: 가상 데이터 (Coaching 공통 데이터셋), 2025년 말 기준, 단위 억원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783080"/>
            <a:ext cx="6858000" cy="365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783080"/>
            <a:ext cx="2377440" cy="365760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옵션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783080"/>
            <a:ext cx="112014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리스크 감소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3339" y="1783080"/>
            <a:ext cx="112014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추가 비용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1783080"/>
            <a:ext cx="112014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관계 영향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3620" y="1783080"/>
            <a:ext cx="112014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실행 속도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5760" y="2862072"/>
            <a:ext cx="68580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75488" y="2148840"/>
            <a:ext cx="2267712" cy="713232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1050" b="0">
                <a:solidFill>
                  <a:srgbClr val="1B2230"/>
                </a:solidFill>
                <a:latin typeface="맑은 고딕"/>
              </a:rPr>
              <a:t>현행 유지 (1년치 선급)</a:t>
            </a:r>
          </a:p>
        </p:txBody>
      </p:sp>
      <p:sp>
        <p:nvSpPr>
          <p:cNvPr id="22" name="Oval 21"/>
          <p:cNvSpPr/>
          <p:nvPr/>
        </p:nvSpPr>
        <p:spPr>
          <a:xfrm>
            <a:off x="3147822" y="235000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67962" y="235000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67962" y="2350008"/>
            <a:ext cx="310896" cy="310896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388102" y="235000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388102" y="2350008"/>
            <a:ext cx="310896" cy="310896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08242" y="235000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08242" y="2350008"/>
            <a:ext cx="310896" cy="310896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2862072"/>
            <a:ext cx="6858000" cy="71323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2862072"/>
            <a:ext cx="54864" cy="7132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365760" y="3575304"/>
            <a:ext cx="68580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488" y="2862072"/>
            <a:ext cx="2267712" cy="713232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1050" b="1">
                <a:solidFill>
                  <a:srgbClr val="1F3864"/>
                </a:solidFill>
                <a:latin typeface="맑은 고딕"/>
              </a:rPr>
              <a:t>선급금 축소</a:t>
            </a:r>
          </a:p>
          <a:p>
            <a:pPr algn="l"/>
            <a:r>
              <a:rPr sz="850" b="1">
                <a:solidFill>
                  <a:srgbClr val="2E75B6"/>
                </a:solidFill>
                <a:latin typeface="맑은 고딕"/>
              </a:rPr>
              <a:t>권고</a:t>
            </a:r>
          </a:p>
        </p:txBody>
      </p:sp>
      <p:sp>
        <p:nvSpPr>
          <p:cNvPr id="33" name="Oval 32"/>
          <p:cNvSpPr/>
          <p:nvPr/>
        </p:nvSpPr>
        <p:spPr>
          <a:xfrm>
            <a:off x="3147822" y="30632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3147822" y="3063240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155448"/>
                </a:moveTo>
                <a:lnTo>
                  <a:pt x="155448" y="0"/>
                </a:lnTo>
                <a:lnTo>
                  <a:pt x="165614" y="332"/>
                </a:lnTo>
                <a:lnTo>
                  <a:pt x="175738" y="1329"/>
                </a:lnTo>
                <a:lnTo>
                  <a:pt x="185774" y="2986"/>
                </a:lnTo>
                <a:lnTo>
                  <a:pt x="195680" y="5296"/>
                </a:lnTo>
                <a:lnTo>
                  <a:pt x="205415" y="8249"/>
                </a:lnTo>
                <a:lnTo>
                  <a:pt x="214935" y="11832"/>
                </a:lnTo>
                <a:lnTo>
                  <a:pt x="224200" y="16030"/>
                </a:lnTo>
                <a:lnTo>
                  <a:pt x="233172" y="20826"/>
                </a:lnTo>
                <a:lnTo>
                  <a:pt x="241810" y="26197"/>
                </a:lnTo>
                <a:lnTo>
                  <a:pt x="250078" y="32122"/>
                </a:lnTo>
                <a:lnTo>
                  <a:pt x="257941" y="38576"/>
                </a:lnTo>
                <a:lnTo>
                  <a:pt x="265366" y="45529"/>
                </a:lnTo>
                <a:lnTo>
                  <a:pt x="272319" y="52954"/>
                </a:lnTo>
                <a:lnTo>
                  <a:pt x="278773" y="60817"/>
                </a:lnTo>
                <a:lnTo>
                  <a:pt x="284698" y="69085"/>
                </a:lnTo>
                <a:lnTo>
                  <a:pt x="290069" y="77724"/>
                </a:lnTo>
                <a:lnTo>
                  <a:pt x="294865" y="86695"/>
                </a:lnTo>
                <a:lnTo>
                  <a:pt x="299063" y="95960"/>
                </a:lnTo>
                <a:lnTo>
                  <a:pt x="302646" y="105480"/>
                </a:lnTo>
                <a:lnTo>
                  <a:pt x="305599" y="115215"/>
                </a:lnTo>
                <a:lnTo>
                  <a:pt x="307909" y="125121"/>
                </a:lnTo>
                <a:lnTo>
                  <a:pt x="309566" y="135157"/>
                </a:lnTo>
                <a:lnTo>
                  <a:pt x="310563" y="145281"/>
                </a:lnTo>
                <a:lnTo>
                  <a:pt x="310896" y="155448"/>
                </a:lnTo>
                <a:lnTo>
                  <a:pt x="310563" y="165614"/>
                </a:lnTo>
                <a:lnTo>
                  <a:pt x="309566" y="175738"/>
                </a:lnTo>
                <a:lnTo>
                  <a:pt x="307909" y="185774"/>
                </a:lnTo>
                <a:lnTo>
                  <a:pt x="305599" y="195680"/>
                </a:lnTo>
                <a:lnTo>
                  <a:pt x="302646" y="205415"/>
                </a:lnTo>
                <a:lnTo>
                  <a:pt x="299063" y="214935"/>
                </a:lnTo>
                <a:lnTo>
                  <a:pt x="294865" y="224200"/>
                </a:lnTo>
                <a:lnTo>
                  <a:pt x="290069" y="233172"/>
                </a:lnTo>
                <a:lnTo>
                  <a:pt x="284698" y="241810"/>
                </a:lnTo>
                <a:lnTo>
                  <a:pt x="278773" y="250078"/>
                </a:lnTo>
                <a:lnTo>
                  <a:pt x="272319" y="257941"/>
                </a:lnTo>
                <a:lnTo>
                  <a:pt x="265366" y="265366"/>
                </a:lnTo>
                <a:lnTo>
                  <a:pt x="257941" y="272319"/>
                </a:lnTo>
                <a:lnTo>
                  <a:pt x="250078" y="278773"/>
                </a:lnTo>
                <a:lnTo>
                  <a:pt x="241810" y="284698"/>
                </a:lnTo>
                <a:lnTo>
                  <a:pt x="233172" y="290069"/>
                </a:lnTo>
                <a:lnTo>
                  <a:pt x="224200" y="294865"/>
                </a:lnTo>
                <a:lnTo>
                  <a:pt x="214935" y="299063"/>
                </a:lnTo>
                <a:lnTo>
                  <a:pt x="205415" y="302646"/>
                </a:lnTo>
                <a:lnTo>
                  <a:pt x="195680" y="305599"/>
                </a:lnTo>
                <a:lnTo>
                  <a:pt x="185774" y="307909"/>
                </a:lnTo>
                <a:lnTo>
                  <a:pt x="175738" y="309566"/>
                </a:lnTo>
                <a:lnTo>
                  <a:pt x="165614" y="310563"/>
                </a:lnTo>
                <a:lnTo>
                  <a:pt x="155448" y="310896"/>
                </a:lnTo>
                <a:lnTo>
                  <a:pt x="145281" y="310563"/>
                </a:lnTo>
                <a:lnTo>
                  <a:pt x="135157" y="309566"/>
                </a:lnTo>
                <a:lnTo>
                  <a:pt x="125121" y="307909"/>
                </a:lnTo>
                <a:lnTo>
                  <a:pt x="115215" y="305599"/>
                </a:lnTo>
                <a:lnTo>
                  <a:pt x="105480" y="302646"/>
                </a:lnTo>
                <a:lnTo>
                  <a:pt x="95960" y="299063"/>
                </a:lnTo>
                <a:lnTo>
                  <a:pt x="86695" y="294865"/>
                </a:lnTo>
                <a:lnTo>
                  <a:pt x="77724" y="290069"/>
                </a:lnTo>
                <a:lnTo>
                  <a:pt x="69085" y="284698"/>
                </a:lnTo>
                <a:lnTo>
                  <a:pt x="60817" y="278773"/>
                </a:lnTo>
                <a:lnTo>
                  <a:pt x="52954" y="272319"/>
                </a:lnTo>
                <a:lnTo>
                  <a:pt x="45529" y="265366"/>
                </a:lnTo>
                <a:lnTo>
                  <a:pt x="38576" y="257941"/>
                </a:lnTo>
                <a:lnTo>
                  <a:pt x="32122" y="250078"/>
                </a:lnTo>
                <a:lnTo>
                  <a:pt x="26197" y="241810"/>
                </a:lnTo>
                <a:lnTo>
                  <a:pt x="20826" y="233172"/>
                </a:lnTo>
                <a:lnTo>
                  <a:pt x="16030" y="224200"/>
                </a:lnTo>
                <a:lnTo>
                  <a:pt x="11832" y="214935"/>
                </a:lnTo>
                <a:lnTo>
                  <a:pt x="8249" y="205415"/>
                </a:lnTo>
                <a:lnTo>
                  <a:pt x="5296" y="195680"/>
                </a:lnTo>
                <a:lnTo>
                  <a:pt x="2986" y="185774"/>
                </a:lnTo>
                <a:lnTo>
                  <a:pt x="1329" y="175738"/>
                </a:lnTo>
                <a:lnTo>
                  <a:pt x="332" y="165614"/>
                </a:lnTo>
                <a:lnTo>
                  <a:pt x="0" y="155448"/>
                </a:lnTo>
                <a:close/>
              </a:path>
            </a:pathLst>
          </a:cu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267962" y="30632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4267962" y="3063240"/>
            <a:ext cx="310895" cy="310896"/>
          </a:xfrm>
          <a:custGeom>
            <a:avLst/>
            <a:gdLst/>
            <a:ahLst/>
            <a:cxnLst/>
            <a:rect l="l" t="t" r="r" b="b"/>
            <a:pathLst>
              <a:path w="310895" h="310896">
                <a:moveTo>
                  <a:pt x="155447" y="155448"/>
                </a:moveTo>
                <a:lnTo>
                  <a:pt x="155447" y="0"/>
                </a:lnTo>
                <a:lnTo>
                  <a:pt x="165614" y="332"/>
                </a:lnTo>
                <a:lnTo>
                  <a:pt x="175738" y="1329"/>
                </a:lnTo>
                <a:lnTo>
                  <a:pt x="185774" y="2986"/>
                </a:lnTo>
                <a:lnTo>
                  <a:pt x="195680" y="5296"/>
                </a:lnTo>
                <a:lnTo>
                  <a:pt x="205415" y="8249"/>
                </a:lnTo>
                <a:lnTo>
                  <a:pt x="214935" y="11832"/>
                </a:lnTo>
                <a:lnTo>
                  <a:pt x="224200" y="16030"/>
                </a:lnTo>
                <a:lnTo>
                  <a:pt x="233171" y="20826"/>
                </a:lnTo>
                <a:lnTo>
                  <a:pt x="241810" y="26197"/>
                </a:lnTo>
                <a:lnTo>
                  <a:pt x="250078" y="32122"/>
                </a:lnTo>
                <a:lnTo>
                  <a:pt x="257941" y="38576"/>
                </a:lnTo>
                <a:lnTo>
                  <a:pt x="265366" y="45529"/>
                </a:lnTo>
                <a:lnTo>
                  <a:pt x="272319" y="52954"/>
                </a:lnTo>
                <a:lnTo>
                  <a:pt x="278773" y="60817"/>
                </a:lnTo>
                <a:lnTo>
                  <a:pt x="284698" y="69085"/>
                </a:lnTo>
                <a:lnTo>
                  <a:pt x="290069" y="77724"/>
                </a:lnTo>
                <a:lnTo>
                  <a:pt x="294865" y="86695"/>
                </a:lnTo>
                <a:lnTo>
                  <a:pt x="299063" y="95960"/>
                </a:lnTo>
                <a:lnTo>
                  <a:pt x="302646" y="105480"/>
                </a:lnTo>
                <a:lnTo>
                  <a:pt x="305599" y="115215"/>
                </a:lnTo>
                <a:lnTo>
                  <a:pt x="307909" y="125121"/>
                </a:lnTo>
                <a:lnTo>
                  <a:pt x="309566" y="135157"/>
                </a:lnTo>
                <a:lnTo>
                  <a:pt x="310563" y="145281"/>
                </a:lnTo>
                <a:lnTo>
                  <a:pt x="310895" y="155448"/>
                </a:lnTo>
                <a:lnTo>
                  <a:pt x="310563" y="165614"/>
                </a:lnTo>
                <a:lnTo>
                  <a:pt x="309566" y="175738"/>
                </a:lnTo>
                <a:lnTo>
                  <a:pt x="307909" y="185774"/>
                </a:lnTo>
                <a:lnTo>
                  <a:pt x="305599" y="195680"/>
                </a:lnTo>
                <a:lnTo>
                  <a:pt x="302646" y="205415"/>
                </a:lnTo>
                <a:lnTo>
                  <a:pt x="299063" y="214935"/>
                </a:lnTo>
                <a:lnTo>
                  <a:pt x="294865" y="224200"/>
                </a:lnTo>
                <a:lnTo>
                  <a:pt x="290069" y="233172"/>
                </a:lnTo>
                <a:lnTo>
                  <a:pt x="284698" y="241810"/>
                </a:lnTo>
                <a:lnTo>
                  <a:pt x="278773" y="250078"/>
                </a:lnTo>
                <a:lnTo>
                  <a:pt x="272319" y="257941"/>
                </a:lnTo>
                <a:lnTo>
                  <a:pt x="265366" y="265366"/>
                </a:lnTo>
                <a:lnTo>
                  <a:pt x="257941" y="272319"/>
                </a:lnTo>
                <a:lnTo>
                  <a:pt x="250078" y="278773"/>
                </a:lnTo>
                <a:lnTo>
                  <a:pt x="241810" y="284698"/>
                </a:lnTo>
                <a:lnTo>
                  <a:pt x="233171" y="290069"/>
                </a:lnTo>
                <a:lnTo>
                  <a:pt x="224200" y="294865"/>
                </a:lnTo>
                <a:lnTo>
                  <a:pt x="214935" y="299063"/>
                </a:lnTo>
                <a:lnTo>
                  <a:pt x="205415" y="302646"/>
                </a:lnTo>
                <a:lnTo>
                  <a:pt x="195680" y="305599"/>
                </a:lnTo>
                <a:lnTo>
                  <a:pt x="185774" y="307909"/>
                </a:lnTo>
                <a:lnTo>
                  <a:pt x="175738" y="309566"/>
                </a:lnTo>
                <a:lnTo>
                  <a:pt x="165614" y="310563"/>
                </a:lnTo>
                <a:lnTo>
                  <a:pt x="155447" y="310896"/>
                </a:lnTo>
                <a:lnTo>
                  <a:pt x="145281" y="310563"/>
                </a:lnTo>
                <a:lnTo>
                  <a:pt x="135157" y="309566"/>
                </a:lnTo>
                <a:lnTo>
                  <a:pt x="125121" y="307909"/>
                </a:lnTo>
                <a:lnTo>
                  <a:pt x="115215" y="305599"/>
                </a:lnTo>
                <a:lnTo>
                  <a:pt x="105480" y="302646"/>
                </a:lnTo>
                <a:lnTo>
                  <a:pt x="95960" y="299063"/>
                </a:lnTo>
                <a:lnTo>
                  <a:pt x="86695" y="294865"/>
                </a:lnTo>
                <a:lnTo>
                  <a:pt x="77724" y="290069"/>
                </a:lnTo>
                <a:lnTo>
                  <a:pt x="69085" y="284698"/>
                </a:lnTo>
                <a:lnTo>
                  <a:pt x="60817" y="278773"/>
                </a:lnTo>
                <a:lnTo>
                  <a:pt x="52954" y="272319"/>
                </a:lnTo>
                <a:lnTo>
                  <a:pt x="45529" y="265366"/>
                </a:lnTo>
                <a:lnTo>
                  <a:pt x="38576" y="257941"/>
                </a:lnTo>
                <a:lnTo>
                  <a:pt x="32122" y="250078"/>
                </a:lnTo>
                <a:lnTo>
                  <a:pt x="26197" y="241810"/>
                </a:lnTo>
                <a:lnTo>
                  <a:pt x="20826" y="233172"/>
                </a:lnTo>
                <a:lnTo>
                  <a:pt x="16030" y="224200"/>
                </a:lnTo>
                <a:lnTo>
                  <a:pt x="11832" y="214935"/>
                </a:lnTo>
                <a:lnTo>
                  <a:pt x="8249" y="205415"/>
                </a:lnTo>
                <a:lnTo>
                  <a:pt x="5296" y="195680"/>
                </a:lnTo>
                <a:lnTo>
                  <a:pt x="2986" y="185774"/>
                </a:lnTo>
                <a:lnTo>
                  <a:pt x="1329" y="175738"/>
                </a:lnTo>
                <a:lnTo>
                  <a:pt x="332" y="165614"/>
                </a:lnTo>
                <a:lnTo>
                  <a:pt x="0" y="155448"/>
                </a:lnTo>
                <a:close/>
              </a:path>
            </a:pathLst>
          </a:cu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388102" y="30632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5543550" y="3063240"/>
            <a:ext cx="155448" cy="310896"/>
          </a:xfrm>
          <a:custGeom>
            <a:avLst/>
            <a:gdLst/>
            <a:ahLst/>
            <a:cxnLst/>
            <a:rect l="l" t="t" r="r" b="b"/>
            <a:pathLst>
              <a:path w="155448" h="310896">
                <a:moveTo>
                  <a:pt x="0" y="155448"/>
                </a:moveTo>
                <a:lnTo>
                  <a:pt x="0" y="0"/>
                </a:lnTo>
                <a:lnTo>
                  <a:pt x="10166" y="332"/>
                </a:lnTo>
                <a:lnTo>
                  <a:pt x="20290" y="1329"/>
                </a:lnTo>
                <a:lnTo>
                  <a:pt x="30326" y="2986"/>
                </a:lnTo>
                <a:lnTo>
                  <a:pt x="40232" y="5296"/>
                </a:lnTo>
                <a:lnTo>
                  <a:pt x="49967" y="8249"/>
                </a:lnTo>
                <a:lnTo>
                  <a:pt x="59487" y="11832"/>
                </a:lnTo>
                <a:lnTo>
                  <a:pt x="68752" y="16030"/>
                </a:lnTo>
                <a:lnTo>
                  <a:pt x="77724" y="20826"/>
                </a:lnTo>
                <a:lnTo>
                  <a:pt x="86362" y="26197"/>
                </a:lnTo>
                <a:lnTo>
                  <a:pt x="94630" y="32122"/>
                </a:lnTo>
                <a:lnTo>
                  <a:pt x="102493" y="38576"/>
                </a:lnTo>
                <a:lnTo>
                  <a:pt x="109918" y="45529"/>
                </a:lnTo>
                <a:lnTo>
                  <a:pt x="116871" y="52954"/>
                </a:lnTo>
                <a:lnTo>
                  <a:pt x="123325" y="60817"/>
                </a:lnTo>
                <a:lnTo>
                  <a:pt x="129250" y="69085"/>
                </a:lnTo>
                <a:lnTo>
                  <a:pt x="134621" y="77724"/>
                </a:lnTo>
                <a:lnTo>
                  <a:pt x="139417" y="86695"/>
                </a:lnTo>
                <a:lnTo>
                  <a:pt x="143615" y="95960"/>
                </a:lnTo>
                <a:lnTo>
                  <a:pt x="147198" y="105480"/>
                </a:lnTo>
                <a:lnTo>
                  <a:pt x="150151" y="115215"/>
                </a:lnTo>
                <a:lnTo>
                  <a:pt x="152461" y="125121"/>
                </a:lnTo>
                <a:lnTo>
                  <a:pt x="154118" y="135157"/>
                </a:lnTo>
                <a:lnTo>
                  <a:pt x="155115" y="145281"/>
                </a:lnTo>
                <a:lnTo>
                  <a:pt x="155448" y="155448"/>
                </a:lnTo>
                <a:lnTo>
                  <a:pt x="155115" y="165614"/>
                </a:lnTo>
                <a:lnTo>
                  <a:pt x="154118" y="175738"/>
                </a:lnTo>
                <a:lnTo>
                  <a:pt x="152461" y="185774"/>
                </a:lnTo>
                <a:lnTo>
                  <a:pt x="150151" y="195680"/>
                </a:lnTo>
                <a:lnTo>
                  <a:pt x="147198" y="205415"/>
                </a:lnTo>
                <a:lnTo>
                  <a:pt x="143615" y="214935"/>
                </a:lnTo>
                <a:lnTo>
                  <a:pt x="139417" y="224200"/>
                </a:lnTo>
                <a:lnTo>
                  <a:pt x="134621" y="233172"/>
                </a:lnTo>
                <a:lnTo>
                  <a:pt x="129250" y="241810"/>
                </a:lnTo>
                <a:lnTo>
                  <a:pt x="123325" y="250078"/>
                </a:lnTo>
                <a:lnTo>
                  <a:pt x="116871" y="257941"/>
                </a:lnTo>
                <a:lnTo>
                  <a:pt x="109918" y="265366"/>
                </a:lnTo>
                <a:lnTo>
                  <a:pt x="102493" y="272319"/>
                </a:lnTo>
                <a:lnTo>
                  <a:pt x="94630" y="278773"/>
                </a:lnTo>
                <a:lnTo>
                  <a:pt x="86362" y="284698"/>
                </a:lnTo>
                <a:lnTo>
                  <a:pt x="77724" y="290069"/>
                </a:lnTo>
                <a:lnTo>
                  <a:pt x="68752" y="294865"/>
                </a:lnTo>
                <a:lnTo>
                  <a:pt x="59487" y="299063"/>
                </a:lnTo>
                <a:lnTo>
                  <a:pt x="49967" y="302646"/>
                </a:lnTo>
                <a:lnTo>
                  <a:pt x="40232" y="305599"/>
                </a:lnTo>
                <a:lnTo>
                  <a:pt x="30326" y="307909"/>
                </a:lnTo>
                <a:lnTo>
                  <a:pt x="20290" y="309566"/>
                </a:lnTo>
                <a:lnTo>
                  <a:pt x="10166" y="310563"/>
                </a:lnTo>
                <a:lnTo>
                  <a:pt x="0" y="310896"/>
                </a:lnTo>
                <a:close/>
              </a:path>
            </a:pathLst>
          </a:cu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508242" y="30632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6508242" y="3063240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155448"/>
                </a:moveTo>
                <a:lnTo>
                  <a:pt x="155448" y="0"/>
                </a:lnTo>
                <a:lnTo>
                  <a:pt x="165614" y="332"/>
                </a:lnTo>
                <a:lnTo>
                  <a:pt x="175738" y="1329"/>
                </a:lnTo>
                <a:lnTo>
                  <a:pt x="185774" y="2986"/>
                </a:lnTo>
                <a:lnTo>
                  <a:pt x="195680" y="5296"/>
                </a:lnTo>
                <a:lnTo>
                  <a:pt x="205415" y="8249"/>
                </a:lnTo>
                <a:lnTo>
                  <a:pt x="214935" y="11832"/>
                </a:lnTo>
                <a:lnTo>
                  <a:pt x="224200" y="16030"/>
                </a:lnTo>
                <a:lnTo>
                  <a:pt x="233172" y="20826"/>
                </a:lnTo>
                <a:lnTo>
                  <a:pt x="241810" y="26197"/>
                </a:lnTo>
                <a:lnTo>
                  <a:pt x="250078" y="32122"/>
                </a:lnTo>
                <a:lnTo>
                  <a:pt x="257941" y="38576"/>
                </a:lnTo>
                <a:lnTo>
                  <a:pt x="265366" y="45529"/>
                </a:lnTo>
                <a:lnTo>
                  <a:pt x="272319" y="52954"/>
                </a:lnTo>
                <a:lnTo>
                  <a:pt x="278773" y="60817"/>
                </a:lnTo>
                <a:lnTo>
                  <a:pt x="284698" y="69085"/>
                </a:lnTo>
                <a:lnTo>
                  <a:pt x="290069" y="77724"/>
                </a:lnTo>
                <a:lnTo>
                  <a:pt x="294865" y="86695"/>
                </a:lnTo>
                <a:lnTo>
                  <a:pt x="299063" y="95960"/>
                </a:lnTo>
                <a:lnTo>
                  <a:pt x="302646" y="105480"/>
                </a:lnTo>
                <a:lnTo>
                  <a:pt x="305599" y="115215"/>
                </a:lnTo>
                <a:lnTo>
                  <a:pt x="307909" y="125121"/>
                </a:lnTo>
                <a:lnTo>
                  <a:pt x="309566" y="135157"/>
                </a:lnTo>
                <a:lnTo>
                  <a:pt x="310563" y="145281"/>
                </a:lnTo>
                <a:lnTo>
                  <a:pt x="310896" y="155448"/>
                </a:lnTo>
                <a:lnTo>
                  <a:pt x="310563" y="165614"/>
                </a:lnTo>
                <a:lnTo>
                  <a:pt x="309566" y="175738"/>
                </a:lnTo>
                <a:lnTo>
                  <a:pt x="307909" y="185774"/>
                </a:lnTo>
                <a:lnTo>
                  <a:pt x="305599" y="195680"/>
                </a:lnTo>
                <a:lnTo>
                  <a:pt x="302646" y="205415"/>
                </a:lnTo>
                <a:lnTo>
                  <a:pt x="299063" y="214935"/>
                </a:lnTo>
                <a:lnTo>
                  <a:pt x="294865" y="224200"/>
                </a:lnTo>
                <a:lnTo>
                  <a:pt x="290069" y="233172"/>
                </a:lnTo>
                <a:lnTo>
                  <a:pt x="284698" y="241810"/>
                </a:lnTo>
                <a:lnTo>
                  <a:pt x="278773" y="250078"/>
                </a:lnTo>
                <a:lnTo>
                  <a:pt x="272319" y="257941"/>
                </a:lnTo>
                <a:lnTo>
                  <a:pt x="265366" y="265366"/>
                </a:lnTo>
                <a:lnTo>
                  <a:pt x="257941" y="272319"/>
                </a:lnTo>
                <a:lnTo>
                  <a:pt x="250078" y="278773"/>
                </a:lnTo>
                <a:lnTo>
                  <a:pt x="241810" y="284698"/>
                </a:lnTo>
                <a:lnTo>
                  <a:pt x="233172" y="290069"/>
                </a:lnTo>
                <a:lnTo>
                  <a:pt x="224200" y="294865"/>
                </a:lnTo>
                <a:lnTo>
                  <a:pt x="214935" y="299063"/>
                </a:lnTo>
                <a:lnTo>
                  <a:pt x="205415" y="302646"/>
                </a:lnTo>
                <a:lnTo>
                  <a:pt x="195680" y="305599"/>
                </a:lnTo>
                <a:lnTo>
                  <a:pt x="185774" y="307909"/>
                </a:lnTo>
                <a:lnTo>
                  <a:pt x="175738" y="309566"/>
                </a:lnTo>
                <a:lnTo>
                  <a:pt x="165614" y="310563"/>
                </a:lnTo>
                <a:lnTo>
                  <a:pt x="155448" y="310896"/>
                </a:lnTo>
                <a:lnTo>
                  <a:pt x="145281" y="310563"/>
                </a:lnTo>
                <a:lnTo>
                  <a:pt x="135157" y="309566"/>
                </a:lnTo>
                <a:lnTo>
                  <a:pt x="125121" y="307909"/>
                </a:lnTo>
                <a:lnTo>
                  <a:pt x="115215" y="305599"/>
                </a:lnTo>
                <a:lnTo>
                  <a:pt x="105480" y="302646"/>
                </a:lnTo>
                <a:lnTo>
                  <a:pt x="95960" y="299063"/>
                </a:lnTo>
                <a:lnTo>
                  <a:pt x="86695" y="294865"/>
                </a:lnTo>
                <a:lnTo>
                  <a:pt x="77724" y="290069"/>
                </a:lnTo>
                <a:lnTo>
                  <a:pt x="69085" y="284698"/>
                </a:lnTo>
                <a:lnTo>
                  <a:pt x="60817" y="278773"/>
                </a:lnTo>
                <a:lnTo>
                  <a:pt x="52954" y="272319"/>
                </a:lnTo>
                <a:lnTo>
                  <a:pt x="45529" y="265366"/>
                </a:lnTo>
                <a:lnTo>
                  <a:pt x="38576" y="257941"/>
                </a:lnTo>
                <a:lnTo>
                  <a:pt x="32122" y="250078"/>
                </a:lnTo>
                <a:lnTo>
                  <a:pt x="26197" y="241810"/>
                </a:lnTo>
                <a:lnTo>
                  <a:pt x="20826" y="233172"/>
                </a:lnTo>
                <a:lnTo>
                  <a:pt x="16030" y="224200"/>
                </a:lnTo>
                <a:lnTo>
                  <a:pt x="11832" y="214935"/>
                </a:lnTo>
                <a:lnTo>
                  <a:pt x="8249" y="205415"/>
                </a:lnTo>
                <a:lnTo>
                  <a:pt x="5296" y="195680"/>
                </a:lnTo>
                <a:lnTo>
                  <a:pt x="2986" y="185774"/>
                </a:lnTo>
                <a:lnTo>
                  <a:pt x="1329" y="175738"/>
                </a:lnTo>
                <a:lnTo>
                  <a:pt x="332" y="165614"/>
                </a:lnTo>
                <a:lnTo>
                  <a:pt x="0" y="155448"/>
                </a:lnTo>
                <a:close/>
              </a:path>
            </a:pathLst>
          </a:cu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3575304"/>
            <a:ext cx="6858000" cy="71323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3575304"/>
            <a:ext cx="54864" cy="7132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365760" y="4288536"/>
            <a:ext cx="68580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75488" y="3575304"/>
            <a:ext cx="2267712" cy="713232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1050" b="1">
                <a:solidFill>
                  <a:srgbClr val="1F3864"/>
                </a:solidFill>
                <a:latin typeface="맑은 고딕"/>
              </a:rPr>
              <a:t>분할 납품 + 분기 재점검</a:t>
            </a:r>
          </a:p>
          <a:p>
            <a:pPr algn="l"/>
            <a:r>
              <a:rPr sz="850" b="1">
                <a:solidFill>
                  <a:srgbClr val="2E75B6"/>
                </a:solidFill>
                <a:latin typeface="맑은 고딕"/>
              </a:rPr>
              <a:t>권고</a:t>
            </a:r>
          </a:p>
        </p:txBody>
      </p:sp>
      <p:sp>
        <p:nvSpPr>
          <p:cNvPr id="45" name="Oval 44"/>
          <p:cNvSpPr/>
          <p:nvPr/>
        </p:nvSpPr>
        <p:spPr>
          <a:xfrm>
            <a:off x="3147822" y="377647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147822" y="3776472"/>
            <a:ext cx="310896" cy="310896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267962" y="377647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267962" y="3776472"/>
            <a:ext cx="310895" cy="310896"/>
          </a:xfrm>
          <a:custGeom>
            <a:avLst/>
            <a:gdLst/>
            <a:ahLst/>
            <a:cxnLst/>
            <a:rect l="l" t="t" r="r" b="b"/>
            <a:pathLst>
              <a:path w="310895" h="310896">
                <a:moveTo>
                  <a:pt x="155447" y="155448"/>
                </a:moveTo>
                <a:lnTo>
                  <a:pt x="155447" y="0"/>
                </a:lnTo>
                <a:lnTo>
                  <a:pt x="165614" y="332"/>
                </a:lnTo>
                <a:lnTo>
                  <a:pt x="175738" y="1329"/>
                </a:lnTo>
                <a:lnTo>
                  <a:pt x="185774" y="2986"/>
                </a:lnTo>
                <a:lnTo>
                  <a:pt x="195680" y="5296"/>
                </a:lnTo>
                <a:lnTo>
                  <a:pt x="205415" y="8249"/>
                </a:lnTo>
                <a:lnTo>
                  <a:pt x="214935" y="11832"/>
                </a:lnTo>
                <a:lnTo>
                  <a:pt x="224200" y="16030"/>
                </a:lnTo>
                <a:lnTo>
                  <a:pt x="233171" y="20826"/>
                </a:lnTo>
                <a:lnTo>
                  <a:pt x="241810" y="26197"/>
                </a:lnTo>
                <a:lnTo>
                  <a:pt x="250078" y="32122"/>
                </a:lnTo>
                <a:lnTo>
                  <a:pt x="257941" y="38576"/>
                </a:lnTo>
                <a:lnTo>
                  <a:pt x="265366" y="45529"/>
                </a:lnTo>
                <a:lnTo>
                  <a:pt x="272319" y="52954"/>
                </a:lnTo>
                <a:lnTo>
                  <a:pt x="278773" y="60817"/>
                </a:lnTo>
                <a:lnTo>
                  <a:pt x="284698" y="69085"/>
                </a:lnTo>
                <a:lnTo>
                  <a:pt x="290069" y="77724"/>
                </a:lnTo>
                <a:lnTo>
                  <a:pt x="294865" y="86695"/>
                </a:lnTo>
                <a:lnTo>
                  <a:pt x="299063" y="95960"/>
                </a:lnTo>
                <a:lnTo>
                  <a:pt x="302646" y="105480"/>
                </a:lnTo>
                <a:lnTo>
                  <a:pt x="305599" y="115215"/>
                </a:lnTo>
                <a:lnTo>
                  <a:pt x="307909" y="125121"/>
                </a:lnTo>
                <a:lnTo>
                  <a:pt x="309566" y="135157"/>
                </a:lnTo>
                <a:lnTo>
                  <a:pt x="310563" y="145281"/>
                </a:lnTo>
                <a:lnTo>
                  <a:pt x="310895" y="155448"/>
                </a:lnTo>
                <a:lnTo>
                  <a:pt x="310563" y="165614"/>
                </a:lnTo>
                <a:lnTo>
                  <a:pt x="309566" y="175738"/>
                </a:lnTo>
                <a:lnTo>
                  <a:pt x="307909" y="185774"/>
                </a:lnTo>
                <a:lnTo>
                  <a:pt x="305599" y="195680"/>
                </a:lnTo>
                <a:lnTo>
                  <a:pt x="302646" y="205415"/>
                </a:lnTo>
                <a:lnTo>
                  <a:pt x="299063" y="214935"/>
                </a:lnTo>
                <a:lnTo>
                  <a:pt x="294865" y="224200"/>
                </a:lnTo>
                <a:lnTo>
                  <a:pt x="290069" y="233172"/>
                </a:lnTo>
                <a:lnTo>
                  <a:pt x="284698" y="241810"/>
                </a:lnTo>
                <a:lnTo>
                  <a:pt x="278773" y="250078"/>
                </a:lnTo>
                <a:lnTo>
                  <a:pt x="272319" y="257941"/>
                </a:lnTo>
                <a:lnTo>
                  <a:pt x="265366" y="265366"/>
                </a:lnTo>
                <a:lnTo>
                  <a:pt x="257941" y="272319"/>
                </a:lnTo>
                <a:lnTo>
                  <a:pt x="250078" y="278773"/>
                </a:lnTo>
                <a:lnTo>
                  <a:pt x="241810" y="284698"/>
                </a:lnTo>
                <a:lnTo>
                  <a:pt x="233171" y="290069"/>
                </a:lnTo>
                <a:lnTo>
                  <a:pt x="224200" y="294865"/>
                </a:lnTo>
                <a:lnTo>
                  <a:pt x="214935" y="299063"/>
                </a:lnTo>
                <a:lnTo>
                  <a:pt x="205415" y="302646"/>
                </a:lnTo>
                <a:lnTo>
                  <a:pt x="195680" y="305599"/>
                </a:lnTo>
                <a:lnTo>
                  <a:pt x="185774" y="307909"/>
                </a:lnTo>
                <a:lnTo>
                  <a:pt x="175738" y="309566"/>
                </a:lnTo>
                <a:lnTo>
                  <a:pt x="165614" y="310563"/>
                </a:lnTo>
                <a:lnTo>
                  <a:pt x="155447" y="310896"/>
                </a:lnTo>
                <a:lnTo>
                  <a:pt x="145281" y="310563"/>
                </a:lnTo>
                <a:lnTo>
                  <a:pt x="135157" y="309566"/>
                </a:lnTo>
                <a:lnTo>
                  <a:pt x="125121" y="307909"/>
                </a:lnTo>
                <a:lnTo>
                  <a:pt x="115215" y="305599"/>
                </a:lnTo>
                <a:lnTo>
                  <a:pt x="105480" y="302646"/>
                </a:lnTo>
                <a:lnTo>
                  <a:pt x="95960" y="299063"/>
                </a:lnTo>
                <a:lnTo>
                  <a:pt x="86695" y="294865"/>
                </a:lnTo>
                <a:lnTo>
                  <a:pt x="77724" y="290069"/>
                </a:lnTo>
                <a:lnTo>
                  <a:pt x="69085" y="284698"/>
                </a:lnTo>
                <a:lnTo>
                  <a:pt x="60817" y="278773"/>
                </a:lnTo>
                <a:lnTo>
                  <a:pt x="52954" y="272319"/>
                </a:lnTo>
                <a:lnTo>
                  <a:pt x="45529" y="265366"/>
                </a:lnTo>
                <a:lnTo>
                  <a:pt x="38576" y="257941"/>
                </a:lnTo>
                <a:lnTo>
                  <a:pt x="32122" y="250078"/>
                </a:lnTo>
                <a:lnTo>
                  <a:pt x="26197" y="241810"/>
                </a:lnTo>
                <a:lnTo>
                  <a:pt x="20826" y="233172"/>
                </a:lnTo>
                <a:lnTo>
                  <a:pt x="16030" y="224200"/>
                </a:lnTo>
                <a:lnTo>
                  <a:pt x="11832" y="214935"/>
                </a:lnTo>
                <a:lnTo>
                  <a:pt x="8249" y="205415"/>
                </a:lnTo>
                <a:lnTo>
                  <a:pt x="5296" y="195680"/>
                </a:lnTo>
                <a:lnTo>
                  <a:pt x="2986" y="185774"/>
                </a:lnTo>
                <a:lnTo>
                  <a:pt x="1329" y="175738"/>
                </a:lnTo>
                <a:lnTo>
                  <a:pt x="332" y="165614"/>
                </a:lnTo>
                <a:lnTo>
                  <a:pt x="0" y="155448"/>
                </a:lnTo>
                <a:close/>
              </a:path>
            </a:pathLst>
          </a:cu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88102" y="377647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5388102" y="3776472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155448"/>
                </a:moveTo>
                <a:lnTo>
                  <a:pt x="155448" y="0"/>
                </a:lnTo>
                <a:lnTo>
                  <a:pt x="165614" y="332"/>
                </a:lnTo>
                <a:lnTo>
                  <a:pt x="175738" y="1329"/>
                </a:lnTo>
                <a:lnTo>
                  <a:pt x="185774" y="2986"/>
                </a:lnTo>
                <a:lnTo>
                  <a:pt x="195680" y="5296"/>
                </a:lnTo>
                <a:lnTo>
                  <a:pt x="205415" y="8249"/>
                </a:lnTo>
                <a:lnTo>
                  <a:pt x="214935" y="11832"/>
                </a:lnTo>
                <a:lnTo>
                  <a:pt x="224200" y="16030"/>
                </a:lnTo>
                <a:lnTo>
                  <a:pt x="233172" y="20826"/>
                </a:lnTo>
                <a:lnTo>
                  <a:pt x="241810" y="26197"/>
                </a:lnTo>
                <a:lnTo>
                  <a:pt x="250078" y="32122"/>
                </a:lnTo>
                <a:lnTo>
                  <a:pt x="257941" y="38576"/>
                </a:lnTo>
                <a:lnTo>
                  <a:pt x="265366" y="45529"/>
                </a:lnTo>
                <a:lnTo>
                  <a:pt x="272319" y="52954"/>
                </a:lnTo>
                <a:lnTo>
                  <a:pt x="278773" y="60817"/>
                </a:lnTo>
                <a:lnTo>
                  <a:pt x="284698" y="69085"/>
                </a:lnTo>
                <a:lnTo>
                  <a:pt x="290069" y="77724"/>
                </a:lnTo>
                <a:lnTo>
                  <a:pt x="294865" y="86695"/>
                </a:lnTo>
                <a:lnTo>
                  <a:pt x="299063" y="95960"/>
                </a:lnTo>
                <a:lnTo>
                  <a:pt x="302646" y="105480"/>
                </a:lnTo>
                <a:lnTo>
                  <a:pt x="305599" y="115215"/>
                </a:lnTo>
                <a:lnTo>
                  <a:pt x="307909" y="125121"/>
                </a:lnTo>
                <a:lnTo>
                  <a:pt x="309566" y="135157"/>
                </a:lnTo>
                <a:lnTo>
                  <a:pt x="310563" y="145281"/>
                </a:lnTo>
                <a:lnTo>
                  <a:pt x="310896" y="155448"/>
                </a:lnTo>
                <a:lnTo>
                  <a:pt x="310563" y="165614"/>
                </a:lnTo>
                <a:lnTo>
                  <a:pt x="309566" y="175738"/>
                </a:lnTo>
                <a:lnTo>
                  <a:pt x="307909" y="185774"/>
                </a:lnTo>
                <a:lnTo>
                  <a:pt x="305599" y="195680"/>
                </a:lnTo>
                <a:lnTo>
                  <a:pt x="302646" y="205415"/>
                </a:lnTo>
                <a:lnTo>
                  <a:pt x="299063" y="214935"/>
                </a:lnTo>
                <a:lnTo>
                  <a:pt x="294865" y="224200"/>
                </a:lnTo>
                <a:lnTo>
                  <a:pt x="290069" y="233172"/>
                </a:lnTo>
                <a:lnTo>
                  <a:pt x="284698" y="241810"/>
                </a:lnTo>
                <a:lnTo>
                  <a:pt x="278773" y="250078"/>
                </a:lnTo>
                <a:lnTo>
                  <a:pt x="272319" y="257941"/>
                </a:lnTo>
                <a:lnTo>
                  <a:pt x="265366" y="265366"/>
                </a:lnTo>
                <a:lnTo>
                  <a:pt x="257941" y="272319"/>
                </a:lnTo>
                <a:lnTo>
                  <a:pt x="250078" y="278773"/>
                </a:lnTo>
                <a:lnTo>
                  <a:pt x="241810" y="284698"/>
                </a:lnTo>
                <a:lnTo>
                  <a:pt x="233172" y="290069"/>
                </a:lnTo>
                <a:lnTo>
                  <a:pt x="224200" y="294865"/>
                </a:lnTo>
                <a:lnTo>
                  <a:pt x="214935" y="299063"/>
                </a:lnTo>
                <a:lnTo>
                  <a:pt x="205415" y="302646"/>
                </a:lnTo>
                <a:lnTo>
                  <a:pt x="195680" y="305599"/>
                </a:lnTo>
                <a:lnTo>
                  <a:pt x="185774" y="307909"/>
                </a:lnTo>
                <a:lnTo>
                  <a:pt x="175738" y="309566"/>
                </a:lnTo>
                <a:lnTo>
                  <a:pt x="165614" y="310563"/>
                </a:lnTo>
                <a:lnTo>
                  <a:pt x="155448" y="310896"/>
                </a:lnTo>
                <a:lnTo>
                  <a:pt x="145281" y="310563"/>
                </a:lnTo>
                <a:lnTo>
                  <a:pt x="135157" y="309566"/>
                </a:lnTo>
                <a:lnTo>
                  <a:pt x="125121" y="307909"/>
                </a:lnTo>
                <a:lnTo>
                  <a:pt x="115215" y="305599"/>
                </a:lnTo>
                <a:lnTo>
                  <a:pt x="105480" y="302646"/>
                </a:lnTo>
                <a:lnTo>
                  <a:pt x="95960" y="299063"/>
                </a:lnTo>
                <a:lnTo>
                  <a:pt x="86695" y="294865"/>
                </a:lnTo>
                <a:lnTo>
                  <a:pt x="77724" y="290069"/>
                </a:lnTo>
                <a:lnTo>
                  <a:pt x="69085" y="284698"/>
                </a:lnTo>
                <a:lnTo>
                  <a:pt x="60817" y="278773"/>
                </a:lnTo>
                <a:lnTo>
                  <a:pt x="52954" y="272319"/>
                </a:lnTo>
                <a:lnTo>
                  <a:pt x="45529" y="265366"/>
                </a:lnTo>
                <a:lnTo>
                  <a:pt x="38576" y="257941"/>
                </a:lnTo>
                <a:lnTo>
                  <a:pt x="32122" y="250078"/>
                </a:lnTo>
                <a:lnTo>
                  <a:pt x="26197" y="241810"/>
                </a:lnTo>
                <a:lnTo>
                  <a:pt x="20826" y="233172"/>
                </a:lnTo>
                <a:lnTo>
                  <a:pt x="16030" y="224200"/>
                </a:lnTo>
                <a:lnTo>
                  <a:pt x="11832" y="214935"/>
                </a:lnTo>
                <a:lnTo>
                  <a:pt x="8249" y="205415"/>
                </a:lnTo>
                <a:lnTo>
                  <a:pt x="5296" y="195680"/>
                </a:lnTo>
                <a:lnTo>
                  <a:pt x="2986" y="185774"/>
                </a:lnTo>
                <a:lnTo>
                  <a:pt x="1329" y="175738"/>
                </a:lnTo>
                <a:lnTo>
                  <a:pt x="332" y="165614"/>
                </a:lnTo>
                <a:lnTo>
                  <a:pt x="0" y="155448"/>
                </a:lnTo>
                <a:close/>
              </a:path>
            </a:pathLst>
          </a:cu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508242" y="377647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6508242" y="3776472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155448"/>
                </a:moveTo>
                <a:lnTo>
                  <a:pt x="155448" y="0"/>
                </a:lnTo>
                <a:lnTo>
                  <a:pt x="165614" y="332"/>
                </a:lnTo>
                <a:lnTo>
                  <a:pt x="175738" y="1329"/>
                </a:lnTo>
                <a:lnTo>
                  <a:pt x="185774" y="2986"/>
                </a:lnTo>
                <a:lnTo>
                  <a:pt x="195680" y="5296"/>
                </a:lnTo>
                <a:lnTo>
                  <a:pt x="205415" y="8249"/>
                </a:lnTo>
                <a:lnTo>
                  <a:pt x="214935" y="11832"/>
                </a:lnTo>
                <a:lnTo>
                  <a:pt x="224200" y="16030"/>
                </a:lnTo>
                <a:lnTo>
                  <a:pt x="233172" y="20826"/>
                </a:lnTo>
                <a:lnTo>
                  <a:pt x="241810" y="26197"/>
                </a:lnTo>
                <a:lnTo>
                  <a:pt x="250078" y="32122"/>
                </a:lnTo>
                <a:lnTo>
                  <a:pt x="257941" y="38576"/>
                </a:lnTo>
                <a:lnTo>
                  <a:pt x="265366" y="45529"/>
                </a:lnTo>
                <a:lnTo>
                  <a:pt x="272319" y="52954"/>
                </a:lnTo>
                <a:lnTo>
                  <a:pt x="278773" y="60817"/>
                </a:lnTo>
                <a:lnTo>
                  <a:pt x="284698" y="69085"/>
                </a:lnTo>
                <a:lnTo>
                  <a:pt x="290069" y="77724"/>
                </a:lnTo>
                <a:lnTo>
                  <a:pt x="294865" y="86695"/>
                </a:lnTo>
                <a:lnTo>
                  <a:pt x="299063" y="95960"/>
                </a:lnTo>
                <a:lnTo>
                  <a:pt x="302646" y="105480"/>
                </a:lnTo>
                <a:lnTo>
                  <a:pt x="305599" y="115215"/>
                </a:lnTo>
                <a:lnTo>
                  <a:pt x="307909" y="125121"/>
                </a:lnTo>
                <a:lnTo>
                  <a:pt x="309566" y="135157"/>
                </a:lnTo>
                <a:lnTo>
                  <a:pt x="310563" y="145281"/>
                </a:lnTo>
                <a:lnTo>
                  <a:pt x="310896" y="155448"/>
                </a:lnTo>
                <a:lnTo>
                  <a:pt x="310563" y="165614"/>
                </a:lnTo>
                <a:lnTo>
                  <a:pt x="309566" y="175738"/>
                </a:lnTo>
                <a:lnTo>
                  <a:pt x="307909" y="185774"/>
                </a:lnTo>
                <a:lnTo>
                  <a:pt x="305599" y="195680"/>
                </a:lnTo>
                <a:lnTo>
                  <a:pt x="302646" y="205415"/>
                </a:lnTo>
                <a:lnTo>
                  <a:pt x="299063" y="214935"/>
                </a:lnTo>
                <a:lnTo>
                  <a:pt x="294865" y="224200"/>
                </a:lnTo>
                <a:lnTo>
                  <a:pt x="290069" y="233172"/>
                </a:lnTo>
                <a:lnTo>
                  <a:pt x="284698" y="241810"/>
                </a:lnTo>
                <a:lnTo>
                  <a:pt x="278773" y="250078"/>
                </a:lnTo>
                <a:lnTo>
                  <a:pt x="272319" y="257941"/>
                </a:lnTo>
                <a:lnTo>
                  <a:pt x="265366" y="265366"/>
                </a:lnTo>
                <a:lnTo>
                  <a:pt x="257941" y="272319"/>
                </a:lnTo>
                <a:lnTo>
                  <a:pt x="250078" y="278773"/>
                </a:lnTo>
                <a:lnTo>
                  <a:pt x="241810" y="284698"/>
                </a:lnTo>
                <a:lnTo>
                  <a:pt x="233172" y="290069"/>
                </a:lnTo>
                <a:lnTo>
                  <a:pt x="224200" y="294865"/>
                </a:lnTo>
                <a:lnTo>
                  <a:pt x="214935" y="299063"/>
                </a:lnTo>
                <a:lnTo>
                  <a:pt x="205415" y="302646"/>
                </a:lnTo>
                <a:lnTo>
                  <a:pt x="195680" y="305599"/>
                </a:lnTo>
                <a:lnTo>
                  <a:pt x="185774" y="307909"/>
                </a:lnTo>
                <a:lnTo>
                  <a:pt x="175738" y="309566"/>
                </a:lnTo>
                <a:lnTo>
                  <a:pt x="165614" y="310563"/>
                </a:lnTo>
                <a:lnTo>
                  <a:pt x="155448" y="310896"/>
                </a:lnTo>
                <a:lnTo>
                  <a:pt x="145281" y="310563"/>
                </a:lnTo>
                <a:lnTo>
                  <a:pt x="135157" y="309566"/>
                </a:lnTo>
                <a:lnTo>
                  <a:pt x="125121" y="307909"/>
                </a:lnTo>
                <a:lnTo>
                  <a:pt x="115215" y="305599"/>
                </a:lnTo>
                <a:lnTo>
                  <a:pt x="105480" y="302646"/>
                </a:lnTo>
                <a:lnTo>
                  <a:pt x="95960" y="299063"/>
                </a:lnTo>
                <a:lnTo>
                  <a:pt x="86695" y="294865"/>
                </a:lnTo>
                <a:lnTo>
                  <a:pt x="77724" y="290069"/>
                </a:lnTo>
                <a:lnTo>
                  <a:pt x="69085" y="284698"/>
                </a:lnTo>
                <a:lnTo>
                  <a:pt x="60817" y="278773"/>
                </a:lnTo>
                <a:lnTo>
                  <a:pt x="52954" y="272319"/>
                </a:lnTo>
                <a:lnTo>
                  <a:pt x="45529" y="265366"/>
                </a:lnTo>
                <a:lnTo>
                  <a:pt x="38576" y="257941"/>
                </a:lnTo>
                <a:lnTo>
                  <a:pt x="32122" y="250078"/>
                </a:lnTo>
                <a:lnTo>
                  <a:pt x="26197" y="241810"/>
                </a:lnTo>
                <a:lnTo>
                  <a:pt x="20826" y="233172"/>
                </a:lnTo>
                <a:lnTo>
                  <a:pt x="16030" y="224200"/>
                </a:lnTo>
                <a:lnTo>
                  <a:pt x="11832" y="214935"/>
                </a:lnTo>
                <a:lnTo>
                  <a:pt x="8249" y="205415"/>
                </a:lnTo>
                <a:lnTo>
                  <a:pt x="5296" y="195680"/>
                </a:lnTo>
                <a:lnTo>
                  <a:pt x="2986" y="185774"/>
                </a:lnTo>
                <a:lnTo>
                  <a:pt x="1329" y="175738"/>
                </a:lnTo>
                <a:lnTo>
                  <a:pt x="332" y="165614"/>
                </a:lnTo>
                <a:lnTo>
                  <a:pt x="0" y="155448"/>
                </a:lnTo>
                <a:close/>
              </a:path>
            </a:pathLst>
          </a:cu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365760" y="5001768"/>
            <a:ext cx="68580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75488" y="4288536"/>
            <a:ext cx="2267712" cy="713232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1050" b="0">
                <a:solidFill>
                  <a:srgbClr val="1B2230"/>
                </a:solidFill>
                <a:latin typeface="맑은 고딕"/>
              </a:rPr>
              <a:t>대체 공급처 병행</a:t>
            </a:r>
          </a:p>
        </p:txBody>
      </p:sp>
      <p:sp>
        <p:nvSpPr>
          <p:cNvPr id="55" name="Oval 54"/>
          <p:cNvSpPr/>
          <p:nvPr/>
        </p:nvSpPr>
        <p:spPr>
          <a:xfrm>
            <a:off x="3147822" y="448970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3147822" y="4489703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155448"/>
                </a:moveTo>
                <a:lnTo>
                  <a:pt x="155448" y="0"/>
                </a:lnTo>
                <a:lnTo>
                  <a:pt x="165614" y="333"/>
                </a:lnTo>
                <a:lnTo>
                  <a:pt x="175738" y="1330"/>
                </a:lnTo>
                <a:lnTo>
                  <a:pt x="185774" y="2987"/>
                </a:lnTo>
                <a:lnTo>
                  <a:pt x="195680" y="5297"/>
                </a:lnTo>
                <a:lnTo>
                  <a:pt x="205415" y="8250"/>
                </a:lnTo>
                <a:lnTo>
                  <a:pt x="214935" y="11833"/>
                </a:lnTo>
                <a:lnTo>
                  <a:pt x="224200" y="16031"/>
                </a:lnTo>
                <a:lnTo>
                  <a:pt x="233172" y="20827"/>
                </a:lnTo>
                <a:lnTo>
                  <a:pt x="241810" y="26198"/>
                </a:lnTo>
                <a:lnTo>
                  <a:pt x="250078" y="32123"/>
                </a:lnTo>
                <a:lnTo>
                  <a:pt x="257941" y="38577"/>
                </a:lnTo>
                <a:lnTo>
                  <a:pt x="265366" y="45530"/>
                </a:lnTo>
                <a:lnTo>
                  <a:pt x="272319" y="52955"/>
                </a:lnTo>
                <a:lnTo>
                  <a:pt x="278773" y="60818"/>
                </a:lnTo>
                <a:lnTo>
                  <a:pt x="284698" y="69086"/>
                </a:lnTo>
                <a:lnTo>
                  <a:pt x="290069" y="77724"/>
                </a:lnTo>
                <a:lnTo>
                  <a:pt x="294865" y="86696"/>
                </a:lnTo>
                <a:lnTo>
                  <a:pt x="299063" y="95961"/>
                </a:lnTo>
                <a:lnTo>
                  <a:pt x="302646" y="105481"/>
                </a:lnTo>
                <a:lnTo>
                  <a:pt x="305599" y="115216"/>
                </a:lnTo>
                <a:lnTo>
                  <a:pt x="307909" y="125122"/>
                </a:lnTo>
                <a:lnTo>
                  <a:pt x="309566" y="135158"/>
                </a:lnTo>
                <a:lnTo>
                  <a:pt x="310563" y="145282"/>
                </a:lnTo>
                <a:lnTo>
                  <a:pt x="310896" y="155448"/>
                </a:lnTo>
                <a:lnTo>
                  <a:pt x="310563" y="165615"/>
                </a:lnTo>
                <a:lnTo>
                  <a:pt x="309566" y="175739"/>
                </a:lnTo>
                <a:lnTo>
                  <a:pt x="307909" y="185775"/>
                </a:lnTo>
                <a:lnTo>
                  <a:pt x="305599" y="195681"/>
                </a:lnTo>
                <a:lnTo>
                  <a:pt x="302646" y="205416"/>
                </a:lnTo>
                <a:lnTo>
                  <a:pt x="299063" y="214936"/>
                </a:lnTo>
                <a:lnTo>
                  <a:pt x="294865" y="224201"/>
                </a:lnTo>
                <a:lnTo>
                  <a:pt x="290069" y="233172"/>
                </a:lnTo>
                <a:lnTo>
                  <a:pt x="284698" y="241811"/>
                </a:lnTo>
                <a:lnTo>
                  <a:pt x="278773" y="250079"/>
                </a:lnTo>
                <a:lnTo>
                  <a:pt x="272319" y="257942"/>
                </a:lnTo>
                <a:lnTo>
                  <a:pt x="265366" y="265367"/>
                </a:lnTo>
                <a:lnTo>
                  <a:pt x="257941" y="272320"/>
                </a:lnTo>
                <a:lnTo>
                  <a:pt x="250078" y="278774"/>
                </a:lnTo>
                <a:lnTo>
                  <a:pt x="241810" y="284699"/>
                </a:lnTo>
                <a:lnTo>
                  <a:pt x="233172" y="290070"/>
                </a:lnTo>
                <a:lnTo>
                  <a:pt x="224200" y="294866"/>
                </a:lnTo>
                <a:lnTo>
                  <a:pt x="214935" y="299064"/>
                </a:lnTo>
                <a:lnTo>
                  <a:pt x="205415" y="302647"/>
                </a:lnTo>
                <a:lnTo>
                  <a:pt x="195680" y="305600"/>
                </a:lnTo>
                <a:lnTo>
                  <a:pt x="185774" y="307910"/>
                </a:lnTo>
                <a:lnTo>
                  <a:pt x="175738" y="309567"/>
                </a:lnTo>
                <a:lnTo>
                  <a:pt x="165614" y="310564"/>
                </a:lnTo>
                <a:lnTo>
                  <a:pt x="155448" y="310896"/>
                </a:lnTo>
                <a:lnTo>
                  <a:pt x="145281" y="310564"/>
                </a:lnTo>
                <a:lnTo>
                  <a:pt x="135157" y="309567"/>
                </a:lnTo>
                <a:lnTo>
                  <a:pt x="125121" y="307910"/>
                </a:lnTo>
                <a:lnTo>
                  <a:pt x="115215" y="305600"/>
                </a:lnTo>
                <a:lnTo>
                  <a:pt x="105480" y="302647"/>
                </a:lnTo>
                <a:lnTo>
                  <a:pt x="95960" y="299064"/>
                </a:lnTo>
                <a:lnTo>
                  <a:pt x="86695" y="294866"/>
                </a:lnTo>
                <a:lnTo>
                  <a:pt x="77724" y="290070"/>
                </a:lnTo>
                <a:lnTo>
                  <a:pt x="69085" y="284699"/>
                </a:lnTo>
                <a:lnTo>
                  <a:pt x="60817" y="278774"/>
                </a:lnTo>
                <a:lnTo>
                  <a:pt x="52954" y="272320"/>
                </a:lnTo>
                <a:lnTo>
                  <a:pt x="45529" y="265367"/>
                </a:lnTo>
                <a:lnTo>
                  <a:pt x="38576" y="257942"/>
                </a:lnTo>
                <a:lnTo>
                  <a:pt x="32122" y="250079"/>
                </a:lnTo>
                <a:lnTo>
                  <a:pt x="26197" y="241811"/>
                </a:lnTo>
                <a:lnTo>
                  <a:pt x="20826" y="233172"/>
                </a:lnTo>
                <a:lnTo>
                  <a:pt x="16030" y="224201"/>
                </a:lnTo>
                <a:lnTo>
                  <a:pt x="11832" y="214936"/>
                </a:lnTo>
                <a:lnTo>
                  <a:pt x="8249" y="205416"/>
                </a:lnTo>
                <a:lnTo>
                  <a:pt x="5296" y="195681"/>
                </a:lnTo>
                <a:lnTo>
                  <a:pt x="2986" y="185775"/>
                </a:lnTo>
                <a:lnTo>
                  <a:pt x="1329" y="175739"/>
                </a:lnTo>
                <a:lnTo>
                  <a:pt x="332" y="165615"/>
                </a:lnTo>
                <a:lnTo>
                  <a:pt x="0" y="155448"/>
                </a:lnTo>
                <a:close/>
              </a:path>
            </a:pathLst>
          </a:cu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267962" y="448970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423409" y="4489703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155448" h="155448">
                <a:moveTo>
                  <a:pt x="0" y="155448"/>
                </a:moveTo>
                <a:lnTo>
                  <a:pt x="0" y="0"/>
                </a:lnTo>
                <a:lnTo>
                  <a:pt x="10167" y="333"/>
                </a:lnTo>
                <a:lnTo>
                  <a:pt x="20291" y="1330"/>
                </a:lnTo>
                <a:lnTo>
                  <a:pt x="30327" y="2987"/>
                </a:lnTo>
                <a:lnTo>
                  <a:pt x="40233" y="5297"/>
                </a:lnTo>
                <a:lnTo>
                  <a:pt x="49968" y="8250"/>
                </a:lnTo>
                <a:lnTo>
                  <a:pt x="59488" y="11833"/>
                </a:lnTo>
                <a:lnTo>
                  <a:pt x="68753" y="16031"/>
                </a:lnTo>
                <a:lnTo>
                  <a:pt x="77724" y="20827"/>
                </a:lnTo>
                <a:lnTo>
                  <a:pt x="86363" y="26198"/>
                </a:lnTo>
                <a:lnTo>
                  <a:pt x="94631" y="32123"/>
                </a:lnTo>
                <a:lnTo>
                  <a:pt x="102494" y="38577"/>
                </a:lnTo>
                <a:lnTo>
                  <a:pt x="109919" y="45530"/>
                </a:lnTo>
                <a:lnTo>
                  <a:pt x="116872" y="52955"/>
                </a:lnTo>
                <a:lnTo>
                  <a:pt x="123326" y="60818"/>
                </a:lnTo>
                <a:lnTo>
                  <a:pt x="129251" y="69086"/>
                </a:lnTo>
                <a:lnTo>
                  <a:pt x="134622" y="77724"/>
                </a:lnTo>
                <a:lnTo>
                  <a:pt x="139418" y="86696"/>
                </a:lnTo>
                <a:lnTo>
                  <a:pt x="143616" y="95961"/>
                </a:lnTo>
                <a:lnTo>
                  <a:pt x="147199" y="105481"/>
                </a:lnTo>
                <a:lnTo>
                  <a:pt x="150152" y="115216"/>
                </a:lnTo>
                <a:lnTo>
                  <a:pt x="152462" y="125122"/>
                </a:lnTo>
                <a:lnTo>
                  <a:pt x="154119" y="135158"/>
                </a:lnTo>
                <a:lnTo>
                  <a:pt x="155116" y="145282"/>
                </a:lnTo>
                <a:lnTo>
                  <a:pt x="155448" y="155448"/>
                </a:lnTo>
                <a:close/>
              </a:path>
            </a:pathLst>
          </a:cu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388102" y="448970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5543550" y="4489703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155448" h="155448">
                <a:moveTo>
                  <a:pt x="0" y="155448"/>
                </a:moveTo>
                <a:lnTo>
                  <a:pt x="0" y="0"/>
                </a:lnTo>
                <a:lnTo>
                  <a:pt x="10166" y="333"/>
                </a:lnTo>
                <a:lnTo>
                  <a:pt x="20290" y="1330"/>
                </a:lnTo>
                <a:lnTo>
                  <a:pt x="30326" y="2987"/>
                </a:lnTo>
                <a:lnTo>
                  <a:pt x="40232" y="5297"/>
                </a:lnTo>
                <a:lnTo>
                  <a:pt x="49967" y="8250"/>
                </a:lnTo>
                <a:lnTo>
                  <a:pt x="59487" y="11833"/>
                </a:lnTo>
                <a:lnTo>
                  <a:pt x="68752" y="16031"/>
                </a:lnTo>
                <a:lnTo>
                  <a:pt x="77724" y="20827"/>
                </a:lnTo>
                <a:lnTo>
                  <a:pt x="86362" y="26198"/>
                </a:lnTo>
                <a:lnTo>
                  <a:pt x="94630" y="32123"/>
                </a:lnTo>
                <a:lnTo>
                  <a:pt x="102493" y="38577"/>
                </a:lnTo>
                <a:lnTo>
                  <a:pt x="109918" y="45530"/>
                </a:lnTo>
                <a:lnTo>
                  <a:pt x="116871" y="52955"/>
                </a:lnTo>
                <a:lnTo>
                  <a:pt x="123325" y="60818"/>
                </a:lnTo>
                <a:lnTo>
                  <a:pt x="129250" y="69086"/>
                </a:lnTo>
                <a:lnTo>
                  <a:pt x="134621" y="77724"/>
                </a:lnTo>
                <a:lnTo>
                  <a:pt x="139417" y="86696"/>
                </a:lnTo>
                <a:lnTo>
                  <a:pt x="143615" y="95961"/>
                </a:lnTo>
                <a:lnTo>
                  <a:pt x="147198" y="105481"/>
                </a:lnTo>
                <a:lnTo>
                  <a:pt x="150151" y="115216"/>
                </a:lnTo>
                <a:lnTo>
                  <a:pt x="152461" y="125122"/>
                </a:lnTo>
                <a:lnTo>
                  <a:pt x="154118" y="135158"/>
                </a:lnTo>
                <a:lnTo>
                  <a:pt x="155115" y="145282"/>
                </a:lnTo>
                <a:lnTo>
                  <a:pt x="155448" y="155448"/>
                </a:lnTo>
                <a:close/>
              </a:path>
            </a:pathLst>
          </a:cu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508242" y="448970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6663690" y="4489703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155448" h="155448">
                <a:moveTo>
                  <a:pt x="0" y="155448"/>
                </a:moveTo>
                <a:lnTo>
                  <a:pt x="0" y="0"/>
                </a:lnTo>
                <a:lnTo>
                  <a:pt x="10166" y="333"/>
                </a:lnTo>
                <a:lnTo>
                  <a:pt x="20290" y="1330"/>
                </a:lnTo>
                <a:lnTo>
                  <a:pt x="30326" y="2987"/>
                </a:lnTo>
                <a:lnTo>
                  <a:pt x="40232" y="5297"/>
                </a:lnTo>
                <a:lnTo>
                  <a:pt x="49967" y="8250"/>
                </a:lnTo>
                <a:lnTo>
                  <a:pt x="59487" y="11833"/>
                </a:lnTo>
                <a:lnTo>
                  <a:pt x="68752" y="16031"/>
                </a:lnTo>
                <a:lnTo>
                  <a:pt x="77724" y="20827"/>
                </a:lnTo>
                <a:lnTo>
                  <a:pt x="86362" y="26198"/>
                </a:lnTo>
                <a:lnTo>
                  <a:pt x="94630" y="32123"/>
                </a:lnTo>
                <a:lnTo>
                  <a:pt x="102493" y="38577"/>
                </a:lnTo>
                <a:lnTo>
                  <a:pt x="109918" y="45530"/>
                </a:lnTo>
                <a:lnTo>
                  <a:pt x="116871" y="52955"/>
                </a:lnTo>
                <a:lnTo>
                  <a:pt x="123325" y="60818"/>
                </a:lnTo>
                <a:lnTo>
                  <a:pt x="129250" y="69086"/>
                </a:lnTo>
                <a:lnTo>
                  <a:pt x="134621" y="77724"/>
                </a:lnTo>
                <a:lnTo>
                  <a:pt x="139417" y="86696"/>
                </a:lnTo>
                <a:lnTo>
                  <a:pt x="143615" y="95961"/>
                </a:lnTo>
                <a:lnTo>
                  <a:pt x="147198" y="105481"/>
                </a:lnTo>
                <a:lnTo>
                  <a:pt x="150151" y="115216"/>
                </a:lnTo>
                <a:lnTo>
                  <a:pt x="152461" y="125122"/>
                </a:lnTo>
                <a:lnTo>
                  <a:pt x="154118" y="135158"/>
                </a:lnTo>
                <a:lnTo>
                  <a:pt x="155115" y="145282"/>
                </a:lnTo>
                <a:lnTo>
                  <a:pt x="155448" y="155448"/>
                </a:lnTo>
                <a:close/>
              </a:path>
            </a:pathLst>
          </a:cu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20624" y="515721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04672" y="515721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886968" y="5157216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82296"/>
                </a:moveTo>
                <a:lnTo>
                  <a:pt x="0" y="0"/>
                </a:lnTo>
                <a:lnTo>
                  <a:pt x="5382" y="176"/>
                </a:lnTo>
                <a:lnTo>
                  <a:pt x="10741" y="704"/>
                </a:lnTo>
                <a:lnTo>
                  <a:pt x="16055" y="1581"/>
                </a:lnTo>
                <a:lnTo>
                  <a:pt x="21299" y="2804"/>
                </a:lnTo>
                <a:lnTo>
                  <a:pt x="26453" y="4367"/>
                </a:lnTo>
                <a:lnTo>
                  <a:pt x="31493" y="6264"/>
                </a:lnTo>
                <a:lnTo>
                  <a:pt x="36398" y="8486"/>
                </a:lnTo>
                <a:lnTo>
                  <a:pt x="41147" y="11025"/>
                </a:lnTo>
                <a:lnTo>
                  <a:pt x="45721" y="13869"/>
                </a:lnTo>
                <a:lnTo>
                  <a:pt x="50098" y="17006"/>
                </a:lnTo>
                <a:lnTo>
                  <a:pt x="54261" y="20422"/>
                </a:lnTo>
                <a:lnTo>
                  <a:pt x="58192" y="24103"/>
                </a:lnTo>
                <a:lnTo>
                  <a:pt x="61873" y="28034"/>
                </a:lnTo>
                <a:lnTo>
                  <a:pt x="65289" y="32197"/>
                </a:lnTo>
                <a:lnTo>
                  <a:pt x="68426" y="36574"/>
                </a:lnTo>
                <a:lnTo>
                  <a:pt x="71270" y="41148"/>
                </a:lnTo>
                <a:lnTo>
                  <a:pt x="73809" y="45897"/>
                </a:lnTo>
                <a:lnTo>
                  <a:pt x="76031" y="50802"/>
                </a:lnTo>
                <a:lnTo>
                  <a:pt x="77928" y="55842"/>
                </a:lnTo>
                <a:lnTo>
                  <a:pt x="79491" y="60996"/>
                </a:lnTo>
                <a:lnTo>
                  <a:pt x="80714" y="66240"/>
                </a:lnTo>
                <a:lnTo>
                  <a:pt x="81591" y="71554"/>
                </a:lnTo>
                <a:lnTo>
                  <a:pt x="82119" y="76913"/>
                </a:lnTo>
                <a:lnTo>
                  <a:pt x="82296" y="82296"/>
                </a:lnTo>
                <a:close/>
              </a:path>
            </a:pathLst>
          </a:cu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88720" y="515721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1271016" y="5157216"/>
            <a:ext cx="82296" cy="164592"/>
          </a:xfrm>
          <a:custGeom>
            <a:avLst/>
            <a:gdLst/>
            <a:ahLst/>
            <a:cxnLst/>
            <a:rect l="l" t="t" r="r" b="b"/>
            <a:pathLst>
              <a:path w="82296" h="164592">
                <a:moveTo>
                  <a:pt x="0" y="82296"/>
                </a:moveTo>
                <a:lnTo>
                  <a:pt x="0" y="0"/>
                </a:lnTo>
                <a:lnTo>
                  <a:pt x="5382" y="176"/>
                </a:lnTo>
                <a:lnTo>
                  <a:pt x="10741" y="704"/>
                </a:lnTo>
                <a:lnTo>
                  <a:pt x="16055" y="1581"/>
                </a:lnTo>
                <a:lnTo>
                  <a:pt x="21299" y="2804"/>
                </a:lnTo>
                <a:lnTo>
                  <a:pt x="26453" y="4367"/>
                </a:lnTo>
                <a:lnTo>
                  <a:pt x="31493" y="6264"/>
                </a:lnTo>
                <a:lnTo>
                  <a:pt x="36398" y="8486"/>
                </a:lnTo>
                <a:lnTo>
                  <a:pt x="41148" y="11025"/>
                </a:lnTo>
                <a:lnTo>
                  <a:pt x="45721" y="13869"/>
                </a:lnTo>
                <a:lnTo>
                  <a:pt x="50098" y="17006"/>
                </a:lnTo>
                <a:lnTo>
                  <a:pt x="54261" y="20422"/>
                </a:lnTo>
                <a:lnTo>
                  <a:pt x="58192" y="24103"/>
                </a:lnTo>
                <a:lnTo>
                  <a:pt x="61873" y="28034"/>
                </a:lnTo>
                <a:lnTo>
                  <a:pt x="65289" y="32197"/>
                </a:lnTo>
                <a:lnTo>
                  <a:pt x="68426" y="36574"/>
                </a:lnTo>
                <a:lnTo>
                  <a:pt x="71270" y="41148"/>
                </a:lnTo>
                <a:lnTo>
                  <a:pt x="73809" y="45897"/>
                </a:lnTo>
                <a:lnTo>
                  <a:pt x="76031" y="50802"/>
                </a:lnTo>
                <a:lnTo>
                  <a:pt x="77928" y="55842"/>
                </a:lnTo>
                <a:lnTo>
                  <a:pt x="79491" y="60996"/>
                </a:lnTo>
                <a:lnTo>
                  <a:pt x="80714" y="66240"/>
                </a:lnTo>
                <a:lnTo>
                  <a:pt x="81591" y="71554"/>
                </a:lnTo>
                <a:lnTo>
                  <a:pt x="82119" y="76913"/>
                </a:lnTo>
                <a:lnTo>
                  <a:pt x="82296" y="82296"/>
                </a:lnTo>
                <a:lnTo>
                  <a:pt x="82119" y="87678"/>
                </a:lnTo>
                <a:lnTo>
                  <a:pt x="81591" y="93037"/>
                </a:lnTo>
                <a:lnTo>
                  <a:pt x="80714" y="98351"/>
                </a:lnTo>
                <a:lnTo>
                  <a:pt x="79491" y="103595"/>
                </a:lnTo>
                <a:lnTo>
                  <a:pt x="77928" y="108749"/>
                </a:lnTo>
                <a:lnTo>
                  <a:pt x="76031" y="113789"/>
                </a:lnTo>
                <a:lnTo>
                  <a:pt x="73809" y="118694"/>
                </a:lnTo>
                <a:lnTo>
                  <a:pt x="71270" y="123444"/>
                </a:lnTo>
                <a:lnTo>
                  <a:pt x="68426" y="128017"/>
                </a:lnTo>
                <a:lnTo>
                  <a:pt x="65289" y="132394"/>
                </a:lnTo>
                <a:lnTo>
                  <a:pt x="61873" y="136557"/>
                </a:lnTo>
                <a:lnTo>
                  <a:pt x="58192" y="140488"/>
                </a:lnTo>
                <a:lnTo>
                  <a:pt x="54261" y="144169"/>
                </a:lnTo>
                <a:lnTo>
                  <a:pt x="50098" y="147585"/>
                </a:lnTo>
                <a:lnTo>
                  <a:pt x="45721" y="150722"/>
                </a:lnTo>
                <a:lnTo>
                  <a:pt x="41148" y="153566"/>
                </a:lnTo>
                <a:lnTo>
                  <a:pt x="36398" y="156105"/>
                </a:lnTo>
                <a:lnTo>
                  <a:pt x="31493" y="158327"/>
                </a:lnTo>
                <a:lnTo>
                  <a:pt x="26453" y="160224"/>
                </a:lnTo>
                <a:lnTo>
                  <a:pt x="21299" y="161787"/>
                </a:lnTo>
                <a:lnTo>
                  <a:pt x="16055" y="163010"/>
                </a:lnTo>
                <a:lnTo>
                  <a:pt x="10741" y="163887"/>
                </a:lnTo>
                <a:lnTo>
                  <a:pt x="5382" y="164415"/>
                </a:lnTo>
                <a:lnTo>
                  <a:pt x="0" y="164592"/>
                </a:lnTo>
                <a:close/>
              </a:path>
            </a:pathLst>
          </a:cu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572768" y="515721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1572768" y="5157216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64592" h="164592">
                <a:moveTo>
                  <a:pt x="82296" y="82296"/>
                </a:moveTo>
                <a:lnTo>
                  <a:pt x="82296" y="0"/>
                </a:lnTo>
                <a:lnTo>
                  <a:pt x="87678" y="176"/>
                </a:lnTo>
                <a:lnTo>
                  <a:pt x="93037" y="704"/>
                </a:lnTo>
                <a:lnTo>
                  <a:pt x="98351" y="1581"/>
                </a:lnTo>
                <a:lnTo>
                  <a:pt x="103595" y="2804"/>
                </a:lnTo>
                <a:lnTo>
                  <a:pt x="108749" y="4367"/>
                </a:lnTo>
                <a:lnTo>
                  <a:pt x="113789" y="6264"/>
                </a:lnTo>
                <a:lnTo>
                  <a:pt x="118694" y="8486"/>
                </a:lnTo>
                <a:lnTo>
                  <a:pt x="123444" y="11025"/>
                </a:lnTo>
                <a:lnTo>
                  <a:pt x="128017" y="13869"/>
                </a:lnTo>
                <a:lnTo>
                  <a:pt x="132394" y="17006"/>
                </a:lnTo>
                <a:lnTo>
                  <a:pt x="136557" y="20422"/>
                </a:lnTo>
                <a:lnTo>
                  <a:pt x="140488" y="24103"/>
                </a:lnTo>
                <a:lnTo>
                  <a:pt x="144169" y="28034"/>
                </a:lnTo>
                <a:lnTo>
                  <a:pt x="147585" y="32197"/>
                </a:lnTo>
                <a:lnTo>
                  <a:pt x="150722" y="36574"/>
                </a:lnTo>
                <a:lnTo>
                  <a:pt x="153566" y="41148"/>
                </a:lnTo>
                <a:lnTo>
                  <a:pt x="156105" y="45897"/>
                </a:lnTo>
                <a:lnTo>
                  <a:pt x="158327" y="50802"/>
                </a:lnTo>
                <a:lnTo>
                  <a:pt x="160224" y="55842"/>
                </a:lnTo>
                <a:lnTo>
                  <a:pt x="161787" y="60996"/>
                </a:lnTo>
                <a:lnTo>
                  <a:pt x="163010" y="66240"/>
                </a:lnTo>
                <a:lnTo>
                  <a:pt x="163887" y="71554"/>
                </a:lnTo>
                <a:lnTo>
                  <a:pt x="164415" y="76913"/>
                </a:lnTo>
                <a:lnTo>
                  <a:pt x="164592" y="82296"/>
                </a:lnTo>
                <a:lnTo>
                  <a:pt x="164415" y="87678"/>
                </a:lnTo>
                <a:lnTo>
                  <a:pt x="163887" y="93037"/>
                </a:lnTo>
                <a:lnTo>
                  <a:pt x="163010" y="98351"/>
                </a:lnTo>
                <a:lnTo>
                  <a:pt x="161787" y="103595"/>
                </a:lnTo>
                <a:lnTo>
                  <a:pt x="160224" y="108749"/>
                </a:lnTo>
                <a:lnTo>
                  <a:pt x="158327" y="113789"/>
                </a:lnTo>
                <a:lnTo>
                  <a:pt x="156105" y="118694"/>
                </a:lnTo>
                <a:lnTo>
                  <a:pt x="153566" y="123444"/>
                </a:lnTo>
                <a:lnTo>
                  <a:pt x="150722" y="128017"/>
                </a:lnTo>
                <a:lnTo>
                  <a:pt x="147585" y="132394"/>
                </a:lnTo>
                <a:lnTo>
                  <a:pt x="144169" y="136557"/>
                </a:lnTo>
                <a:lnTo>
                  <a:pt x="140488" y="140488"/>
                </a:lnTo>
                <a:lnTo>
                  <a:pt x="136557" y="144169"/>
                </a:lnTo>
                <a:lnTo>
                  <a:pt x="132394" y="147585"/>
                </a:lnTo>
                <a:lnTo>
                  <a:pt x="128017" y="150722"/>
                </a:lnTo>
                <a:lnTo>
                  <a:pt x="123444" y="153566"/>
                </a:lnTo>
                <a:lnTo>
                  <a:pt x="118694" y="156105"/>
                </a:lnTo>
                <a:lnTo>
                  <a:pt x="113789" y="158327"/>
                </a:lnTo>
                <a:lnTo>
                  <a:pt x="108749" y="160224"/>
                </a:lnTo>
                <a:lnTo>
                  <a:pt x="103595" y="161787"/>
                </a:lnTo>
                <a:lnTo>
                  <a:pt x="98351" y="163010"/>
                </a:lnTo>
                <a:lnTo>
                  <a:pt x="93037" y="163887"/>
                </a:lnTo>
                <a:lnTo>
                  <a:pt x="87678" y="164415"/>
                </a:lnTo>
                <a:lnTo>
                  <a:pt x="82296" y="164592"/>
                </a:lnTo>
                <a:lnTo>
                  <a:pt x="76913" y="164415"/>
                </a:lnTo>
                <a:lnTo>
                  <a:pt x="71554" y="163887"/>
                </a:lnTo>
                <a:lnTo>
                  <a:pt x="66240" y="163010"/>
                </a:lnTo>
                <a:lnTo>
                  <a:pt x="60996" y="161787"/>
                </a:lnTo>
                <a:lnTo>
                  <a:pt x="55842" y="160224"/>
                </a:lnTo>
                <a:lnTo>
                  <a:pt x="50802" y="158327"/>
                </a:lnTo>
                <a:lnTo>
                  <a:pt x="45897" y="156105"/>
                </a:lnTo>
                <a:lnTo>
                  <a:pt x="41148" y="153566"/>
                </a:lnTo>
                <a:lnTo>
                  <a:pt x="36574" y="150722"/>
                </a:lnTo>
                <a:lnTo>
                  <a:pt x="32197" y="147585"/>
                </a:lnTo>
                <a:lnTo>
                  <a:pt x="28034" y="144169"/>
                </a:lnTo>
                <a:lnTo>
                  <a:pt x="24103" y="140488"/>
                </a:lnTo>
                <a:lnTo>
                  <a:pt x="20422" y="136557"/>
                </a:lnTo>
                <a:lnTo>
                  <a:pt x="17006" y="132394"/>
                </a:lnTo>
                <a:lnTo>
                  <a:pt x="13869" y="128017"/>
                </a:lnTo>
                <a:lnTo>
                  <a:pt x="11025" y="123444"/>
                </a:lnTo>
                <a:lnTo>
                  <a:pt x="8486" y="118694"/>
                </a:lnTo>
                <a:lnTo>
                  <a:pt x="6264" y="113789"/>
                </a:lnTo>
                <a:lnTo>
                  <a:pt x="4367" y="108749"/>
                </a:lnTo>
                <a:lnTo>
                  <a:pt x="2804" y="103595"/>
                </a:lnTo>
                <a:lnTo>
                  <a:pt x="1581" y="98351"/>
                </a:lnTo>
                <a:lnTo>
                  <a:pt x="704" y="93037"/>
                </a:lnTo>
                <a:lnTo>
                  <a:pt x="176" y="87678"/>
                </a:lnTo>
                <a:lnTo>
                  <a:pt x="0" y="82296"/>
                </a:lnTo>
                <a:close/>
              </a:path>
            </a:pathLst>
          </a:cu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956816" y="515721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956816" y="5157216"/>
            <a:ext cx="164592" cy="16459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468879" y="513892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800" b="0">
                <a:solidFill>
                  <a:srgbClr val="7F7F7F"/>
                </a:solidFill>
                <a:latin typeface="맑은 고딕"/>
              </a:rPr>
              <a:t>왼쪽 나쁨 -&gt; 오른쪽 좋음. 리스크 감소는 효과가 클수록, 비용/관계/속도는 부담이 작을수록 ●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5760" y="545896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50" b="1">
                <a:solidFill>
                  <a:srgbClr val="1F3864"/>
                </a:solidFill>
                <a:latin typeface="맑은 고딕"/>
              </a:rPr>
              <a:t>추천 조합: 선급금 축소 + 분할 납품 + 분기 재점검. 대체 공급처는 조사만 선행 (하방 시나리오 진입 시 실행)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89520" y="1810512"/>
            <a:ext cx="36576" cy="868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699248" y="1737360"/>
            <a:ext cx="4123944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맑은 고딕"/>
              </a:rPr>
              <a:t>다음 2주: 결제 조건 변경 협의 (구매팀)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B2230"/>
                </a:solidFill>
                <a:latin typeface="맑은 고딕"/>
              </a:rPr>
              <a:t>선급금 비율 축소와 분기 단위 분할 납품을 A사에 제안. 발주 총량은 유지해 관계 영향을 최소화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89520" y="2999232"/>
            <a:ext cx="36576" cy="868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699248" y="2926080"/>
            <a:ext cx="4123944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맑은 고딕"/>
              </a:rPr>
              <a:t>분기마다 3개 지표 재점검 (전략기획팀)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B2230"/>
                </a:solidFill>
                <a:latin typeface="맑은 고딕"/>
              </a:rPr>
              <a:t>당좌비율 74%, 단기차입 2,000억, 영업CF 150억의 변화를 본다. 당좌비율이 더 내려가면 하방 시나리오로 간주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589520" y="4187952"/>
            <a:ext cx="36576" cy="868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699248" y="4114800"/>
            <a:ext cx="4123944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3864"/>
                </a:solidFill>
                <a:latin typeface="맑은 고딕"/>
              </a:rPr>
              <a:t>대체 공급처는 조사만 선행 (구매팀)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B2230"/>
                </a:solidFill>
                <a:latin typeface="맑은 고딕"/>
              </a:rPr>
              <a:t>지금 전환하면 비용과 관계 부담이 크다. 후보 2곳의 샘플 검증까지만 해 두고 실행은 트리거 발생 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