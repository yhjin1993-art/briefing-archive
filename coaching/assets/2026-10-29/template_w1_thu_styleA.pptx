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229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맑은 고딕"/>
              </a:rPr>
              <a:t>이 장표의 위치: 한 장만 만들지만, 어느 덱의 몇 번째 장인지 알고 만든다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1143000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2000" b="1">
                <a:solidFill>
                  <a:srgbClr val="1F3864"/>
                </a:solidFill>
                <a:latin typeface="맑은 고딕"/>
              </a:rPr>
              <a:t>거래처 A사 신용 점검 (대량 발주 전 리스크 점검)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7F7F7F"/>
                </a:solidFill>
                <a:latin typeface="맑은 고딕"/>
              </a:rPr>
              <a:t>보고 대상: 본부장 (구매/영업 담당 동석)</a:t>
            </a:r>
          </a:p>
          <a:p>
            <a:pPr algn="l"/>
            <a:r>
              <a:rPr sz="1100" b="0">
                <a:solidFill>
                  <a:srgbClr val="7F7F7F"/>
                </a:solidFill>
                <a:latin typeface="맑은 고딕"/>
              </a:rPr>
              <a:t>언제 쓰나: A사에 1년 단위 대량 발주를 걸기 전, 이 회사가 1년 안에 흔들릴 위험이 있는지 판단할 때</a:t>
            </a:r>
          </a:p>
        </p:txBody>
      </p:sp>
      <p:sp>
        <p:nvSpPr>
          <p:cNvPr id="5" name="Chevron 4"/>
          <p:cNvSpPr/>
          <p:nvPr/>
        </p:nvSpPr>
        <p:spPr>
          <a:xfrm>
            <a:off x="365760" y="1691640"/>
            <a:ext cx="1669433" cy="685800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B2230"/>
                </a:solidFill>
                <a:latin typeface="맑은 고딕"/>
              </a:rPr>
              <a:t>1. 요약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514600"/>
            <a:ext cx="1541417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/>
            <a:r>
              <a:rPr sz="1000" b="0">
                <a:solidFill>
                  <a:srgbClr val="1B2230"/>
                </a:solidFill>
                <a:latin typeface="맑은 고딕"/>
              </a:rPr>
              <a:t>발주는 가능, 단 결제 조건으로 리스크를 막는다</a:t>
            </a:r>
          </a:p>
        </p:txBody>
      </p:sp>
      <p:sp>
        <p:nvSpPr>
          <p:cNvPr id="7" name="Chevron 6"/>
          <p:cNvSpPr/>
          <p:nvPr/>
        </p:nvSpPr>
        <p:spPr>
          <a:xfrm>
            <a:off x="1998617" y="1691640"/>
            <a:ext cx="1669433" cy="685800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B2230"/>
                </a:solidFill>
                <a:latin typeface="맑은 고딕"/>
              </a:rPr>
              <a:t>2. A사 개요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2044337" y="2514600"/>
            <a:ext cx="1541417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/>
            <a:r>
              <a:rPr sz="1000" b="0">
                <a:solidFill>
                  <a:srgbClr val="1B2230"/>
                </a:solidFill>
                <a:latin typeface="맑은 고딕"/>
              </a:rPr>
              <a:t>화장품 ODM, 매출 1조, 1년 만에 25% 성장</a:t>
            </a:r>
          </a:p>
        </p:txBody>
      </p:sp>
      <p:sp>
        <p:nvSpPr>
          <p:cNvPr id="9" name="Chevron 8"/>
          <p:cNvSpPr/>
          <p:nvPr/>
        </p:nvSpPr>
        <p:spPr>
          <a:xfrm>
            <a:off x="3631474" y="1691640"/>
            <a:ext cx="1669433" cy="685800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B2230"/>
                </a:solidFill>
                <a:latin typeface="맑은 고딕"/>
              </a:rPr>
              <a:t>3. 조달 구조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77194" y="2514600"/>
            <a:ext cx="1541417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/>
            <a:r>
              <a:rPr sz="1000" b="0">
                <a:solidFill>
                  <a:srgbClr val="1B2230"/>
                </a:solidFill>
                <a:latin typeface="맑은 고딕"/>
              </a:rPr>
              <a:t>자산 1.0조의 60%가 부채, 그중 단기차입 2,000억</a:t>
            </a:r>
          </a:p>
        </p:txBody>
      </p:sp>
      <p:sp>
        <p:nvSpPr>
          <p:cNvPr id="11" name="Chevron 10"/>
          <p:cNvSpPr/>
          <p:nvPr/>
        </p:nvSpPr>
        <p:spPr>
          <a:xfrm>
            <a:off x="5264331" y="1691640"/>
            <a:ext cx="1669433" cy="685800"/>
          </a:xfrm>
          <a:prstGeom prst="chevron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4. 단기 지급능력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10051" y="2514600"/>
            <a:ext cx="1541417" cy="1143000"/>
          </a:xfrm>
          <a:prstGeom prst="rect">
            <a:avLst/>
          </a:prstGeom>
          <a:solidFill>
            <a:srgbClr val="EEF2F7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/>
            <a:r>
              <a:rPr sz="1000" b="1">
                <a:solidFill>
                  <a:srgbClr val="1F3864"/>
                </a:solidFill>
                <a:latin typeface="맑은 고딕"/>
              </a:rPr>
              <a:t>1년은 버티나? (오늘 만드는 장)</a:t>
            </a:r>
          </a:p>
        </p:txBody>
      </p:sp>
      <p:sp>
        <p:nvSpPr>
          <p:cNvPr id="13" name="Chevron 12"/>
          <p:cNvSpPr/>
          <p:nvPr/>
        </p:nvSpPr>
        <p:spPr>
          <a:xfrm>
            <a:off x="6897188" y="1691640"/>
            <a:ext cx="1669433" cy="685800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B2230"/>
                </a:solidFill>
                <a:latin typeface="맑은 고딕"/>
              </a:rPr>
              <a:t>5. 현금흐름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2908" y="2514600"/>
            <a:ext cx="1541417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/>
            <a:r>
              <a:rPr sz="1000" b="0">
                <a:solidFill>
                  <a:srgbClr val="1B2230"/>
                </a:solidFill>
                <a:latin typeface="맑은 고딕"/>
              </a:rPr>
              <a:t>영업 현금이 채권과 재고에 묶여 있다</a:t>
            </a:r>
          </a:p>
        </p:txBody>
      </p:sp>
      <p:sp>
        <p:nvSpPr>
          <p:cNvPr id="15" name="Chevron 14"/>
          <p:cNvSpPr/>
          <p:nvPr/>
        </p:nvSpPr>
        <p:spPr>
          <a:xfrm>
            <a:off x="8530045" y="1691640"/>
            <a:ext cx="1669433" cy="685800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B2230"/>
                </a:solidFill>
                <a:latin typeface="맑은 고딕"/>
              </a:rPr>
              <a:t>6. 리스크 시나리오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75765" y="2514600"/>
            <a:ext cx="1541417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/>
            <a:r>
              <a:rPr sz="1000" b="0">
                <a:solidFill>
                  <a:srgbClr val="1B2230"/>
                </a:solidFill>
                <a:latin typeface="맑은 고딕"/>
              </a:rPr>
              <a:t>차환이 막히면 3개월 안에 유동성 부족</a:t>
            </a:r>
          </a:p>
        </p:txBody>
      </p:sp>
      <p:sp>
        <p:nvSpPr>
          <p:cNvPr id="17" name="Chevron 16"/>
          <p:cNvSpPr/>
          <p:nvPr/>
        </p:nvSpPr>
        <p:spPr>
          <a:xfrm>
            <a:off x="10162902" y="1691640"/>
            <a:ext cx="1669433" cy="685800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B2230"/>
                </a:solidFill>
                <a:latin typeface="맑은 고딕"/>
              </a:rPr>
              <a:t>7. 권고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08622" y="2514600"/>
            <a:ext cx="1541417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/>
            <a:r>
              <a:rPr sz="1000" b="0">
                <a:solidFill>
                  <a:srgbClr val="1B2230"/>
                </a:solidFill>
                <a:latin typeface="맑은 고딕"/>
              </a:rPr>
              <a:t>선급금 축소, 분할 납품, 분기 재점검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0051" y="3703320"/>
            <a:ext cx="1541417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2E75B6"/>
                </a:solidFill>
                <a:latin typeface="맑은 고딕"/>
              </a:rPr>
              <a:t>▲ 오늘 만드는 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297680"/>
            <a:ext cx="11430000" cy="1463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1F3864"/>
                </a:solidFill>
                <a:latin typeface="맑은 고딕"/>
              </a:rPr>
              <a:t>앞 장이 말한 것: 자산 1.0조의 60%가 부채, 그중 단기차입 2,000억</a:t>
            </a:r>
          </a:p>
          <a:p>
            <a:pPr algn="l"/>
            <a:r>
              <a:rPr sz="1100" b="0">
                <a:solidFill>
                  <a:srgbClr val="1F3864"/>
                </a:solidFill>
                <a:latin typeface="맑은 고딕"/>
              </a:rPr>
              <a:t>이 장이 답할 질문: A사는 1년 안에 나갈 돈을 1년 안에 들어올 돈으로 막을 수 있는가</a:t>
            </a:r>
          </a:p>
          <a:p>
            <a:pPr algn="l"/>
            <a:r>
              <a:rPr sz="1100" b="0">
                <a:solidFill>
                  <a:srgbClr val="1F3864"/>
                </a:solidFill>
                <a:latin typeface="맑은 고딕"/>
              </a:rPr>
              <a:t>다음 장으로 넘기는 것: 영업 현금이 채권과 재고에 묶여 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263640"/>
            <a:ext cx="114300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1">
                <a:solidFill>
                  <a:srgbClr val="2E75B6"/>
                </a:solidFill>
                <a:latin typeface="맑은 고딕"/>
              </a:rPr>
              <a:t>반드시 쓸 도식: 이슈트리 + 비교 막대 (3장 모양, 4장부터 적용 예시 참고)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229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맑은 고딕"/>
              </a:rPr>
              <a:t>과제 프레임 / 스타일 A 전략펌 A형 (맥킨지 계열, ADL 등)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457200"/>
            <a:ext cx="11430000" cy="868680"/>
          </a:xfrm>
          <a:prstGeom prst="rect">
            <a:avLst/>
          </a:prstGeom>
          <a:solidFill>
            <a:srgbClr val="F7F8FA"/>
          </a:solidFill>
          <a:ln w="952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7F7F7F"/>
                </a:solidFill>
                <a:latin typeface="맑은 고딕"/>
              </a:rPr>
              <a:t>[타이틀] 질문에 대한 답을 결론 문장 1~2줄로 (18~24pt)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114300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6949440" cy="3931920"/>
          </a:xfrm>
          <a:prstGeom prst="rect">
            <a:avLst/>
          </a:prstGeom>
          <a:solidFill>
            <a:srgbClr val="F7F8FA"/>
          </a:solidFill>
          <a:ln w="952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7F7F7F"/>
                </a:solidFill>
                <a:latin typeface="맑은 고딕"/>
              </a:rPr>
              <a:t>[차트 1개] 메시지에 맞는 차트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1600200"/>
            <a:ext cx="4297680" cy="3931920"/>
          </a:xfrm>
          <a:prstGeom prst="rect">
            <a:avLst/>
          </a:prstGeom>
          <a:solidFill>
            <a:srgbClr val="F7F8FA"/>
          </a:solidFill>
          <a:ln w="952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7F7F7F"/>
                </a:solidFill>
                <a:latin typeface="맑은 고딕"/>
              </a:rPr>
              <a:t>[리드인 불릿 3개]
볼드 리드인 + 보조 1줄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669280"/>
            <a:ext cx="11430000" cy="502920"/>
          </a:xfrm>
          <a:prstGeom prst="rect">
            <a:avLst/>
          </a:prstGeom>
          <a:solidFill>
            <a:srgbClr val="F7F8FA"/>
          </a:solidFill>
          <a:ln w="952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7F7F7F"/>
                </a:solidFill>
                <a:latin typeface="맑은 고딕"/>
              </a:rPr>
              <a:t>[시사점 1줄] so what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63640"/>
            <a:ext cx="114300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맑은 고딕"/>
              </a:rPr>
              <a:t>[출처/단위] 가상 데이터, 2025년 말 기준, 단위 억원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"/>
            <a:ext cx="53949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맑은 고딕"/>
              </a:rPr>
              <a:t>과제: A사는 1년 안에 나갈 돈을 1년 안에 들어올 돈으로 막을 수 있는가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658368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1">
                <a:solidFill>
                  <a:srgbClr val="2E75B6"/>
                </a:solidFill>
                <a:latin typeface="맑은 고딕"/>
              </a:rPr>
              <a:t>반드시 쓸 도식: 이슈트리 + 비교 막대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229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맑은 고딕"/>
              </a:rPr>
              <a:t>스타일 가이드 (공개 보고서와 업계 통념 기준의 관행, 펌의 공식 규칙 아님)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1143000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2000" b="1">
                <a:solidFill>
                  <a:srgbClr val="1F3864"/>
                </a:solidFill>
                <a:latin typeface="맑은 고딕"/>
              </a:rPr>
              <a:t>이번 과제 스타일: A 전략펌 A형 (맥킨지 계열, ADL 등)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96112"/>
            <a:ext cx="1143000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0">
                <a:solidFill>
                  <a:srgbClr val="7F7F7F"/>
                </a:solidFill>
                <a:latin typeface="맑은 고딕"/>
              </a:rPr>
              <a:t>맞는 상황: 분석 보고, 논리 설득, 사내 보고서 기본형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2743200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/>
            <a:r>
              <a:rPr sz="1100" b="1">
                <a:solidFill>
                  <a:srgbClr val="2E75B6"/>
                </a:solidFill>
                <a:latin typeface="맑은 고딕"/>
              </a:rPr>
              <a:t>타이틀</a:t>
            </a:r>
          </a:p>
          <a:p>
            <a:pPr algn="l"/>
            <a:r>
              <a:rPr sz="1100" b="0">
                <a:solidFill>
                  <a:srgbClr val="1B2230"/>
                </a:solidFill>
                <a:latin typeface="맑은 고딕"/>
              </a:rPr>
              <a:t>결론 문장 2줄 이내 액션 타이틀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6120" y="1325880"/>
            <a:ext cx="2743200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/>
            <a:r>
              <a:rPr sz="1100" b="1">
                <a:solidFill>
                  <a:srgbClr val="2E75B6"/>
                </a:solidFill>
                <a:latin typeface="맑은 고딕"/>
              </a:rPr>
              <a:t>본문</a:t>
            </a:r>
          </a:p>
          <a:p>
            <a:pPr algn="l"/>
            <a:r>
              <a:rPr sz="1100" b="0">
                <a:solidFill>
                  <a:srgbClr val="1B2230"/>
                </a:solidFill>
                <a:latin typeface="맑은 고딕"/>
              </a:rPr>
              <a:t>좌 차트 + 우 텍스트 2단, 볼드 리드인 불릿 3개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325880"/>
            <a:ext cx="2743200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/>
            <a:r>
              <a:rPr sz="1100" b="1">
                <a:solidFill>
                  <a:srgbClr val="2E75B6"/>
                </a:solidFill>
                <a:latin typeface="맑은 고딕"/>
              </a:rPr>
              <a:t>하단</a:t>
            </a:r>
          </a:p>
          <a:p>
            <a:pPr algn="l"/>
            <a:r>
              <a:rPr sz="1100" b="0">
                <a:solidFill>
                  <a:srgbClr val="1B2230"/>
                </a:solidFill>
                <a:latin typeface="맑은 고딕"/>
              </a:rPr>
              <a:t>시사점 1줄 (so what)</a:t>
            </a:r>
          </a:p>
        </p:txBody>
      </p:sp>
      <p:sp>
        <p:nvSpPr>
          <p:cNvPr id="8" name="Rectangle 7"/>
          <p:cNvSpPr/>
          <p:nvPr/>
        </p:nvSpPr>
        <p:spPr>
          <a:xfrm>
            <a:off x="9006840" y="1325880"/>
            <a:ext cx="2743200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/>
            <a:r>
              <a:rPr sz="1100" b="1">
                <a:solidFill>
                  <a:srgbClr val="2E75B6"/>
                </a:solidFill>
                <a:latin typeface="맑은 고딕"/>
              </a:rPr>
              <a:t>색</a:t>
            </a:r>
          </a:p>
          <a:p>
            <a:pPr algn="l"/>
            <a:r>
              <a:rPr sz="1100" b="0">
                <a:solidFill>
                  <a:srgbClr val="1B2230"/>
                </a:solidFill>
                <a:latin typeface="맑은 고딕"/>
              </a:rPr>
              <a:t>네이비 + 회색, 강조 1색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23160"/>
            <a:ext cx="1143000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1B2230"/>
                </a:solidFill>
                <a:latin typeface="맑은 고딕"/>
              </a:rPr>
              <a:t>자주 쓰는 도식 모양 (다음 장부터 실제 장표 적용 예시, 가상 C사)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88920"/>
            <a:ext cx="2720340" cy="3246120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25374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1">
                <a:solidFill>
                  <a:srgbClr val="1F3864"/>
                </a:solidFill>
                <a:latin typeface="맑은 고딕"/>
              </a:rPr>
              <a:t>이슈트리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160520"/>
            <a:ext cx="1005840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영업이익 -100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65960" y="3337560"/>
            <a:ext cx="1188720" cy="384048"/>
          </a:xfrm>
          <a:prstGeom prst="rect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F3864"/>
                </a:solidFill>
                <a:latin typeface="맑은 고딕"/>
              </a:rPr>
              <a:t>매출 효과 +20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508760" y="3529584"/>
            <a:ext cx="457200" cy="859536"/>
          </a:xfrm>
          <a:prstGeom prst="line">
            <a:avLst/>
          </a:prstGeom>
          <a:ln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965960" y="4038600"/>
            <a:ext cx="1188720" cy="384048"/>
          </a:xfrm>
          <a:prstGeom prst="rect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F3864"/>
                </a:solidFill>
                <a:latin typeface="맑은 고딕"/>
              </a:rPr>
              <a:t>원가율 효과 -70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508760" y="4230624"/>
            <a:ext cx="457200" cy="158496"/>
          </a:xfrm>
          <a:prstGeom prst="line">
            <a:avLst/>
          </a:prstGeom>
          <a:ln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965960" y="4739640"/>
            <a:ext cx="1188720" cy="384048"/>
          </a:xfrm>
          <a:prstGeom prst="rect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F3864"/>
                </a:solidFill>
                <a:latin typeface="맑은 고딕"/>
              </a:rPr>
              <a:t>판관비 효과 -50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508760" y="4389120"/>
            <a:ext cx="457200" cy="542544"/>
          </a:xfrm>
          <a:prstGeom prst="line">
            <a:avLst/>
          </a:prstGeom>
          <a:ln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268980" y="2788920"/>
            <a:ext cx="2720340" cy="3246120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60420" y="2834640"/>
            <a:ext cx="25374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1">
                <a:solidFill>
                  <a:srgbClr val="1F3864"/>
                </a:solidFill>
                <a:latin typeface="맑은 고딕"/>
              </a:rPr>
              <a:t>쉐브론 프로세스</a:t>
            </a:r>
          </a:p>
        </p:txBody>
      </p:sp>
      <p:sp>
        <p:nvSpPr>
          <p:cNvPr id="21" name="Chevron 20"/>
          <p:cNvSpPr/>
          <p:nvPr/>
        </p:nvSpPr>
        <p:spPr>
          <a:xfrm>
            <a:off x="3406140" y="4114800"/>
            <a:ext cx="534924" cy="548640"/>
          </a:xfrm>
          <a:prstGeom prst="chevron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결정</a:t>
            </a:r>
          </a:p>
        </p:txBody>
      </p:sp>
      <p:sp>
        <p:nvSpPr>
          <p:cNvPr id="22" name="Chevron 21"/>
          <p:cNvSpPr/>
          <p:nvPr/>
        </p:nvSpPr>
        <p:spPr>
          <a:xfrm>
            <a:off x="3895344" y="4114800"/>
            <a:ext cx="534924" cy="548640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B2230"/>
                </a:solidFill>
                <a:latin typeface="맑은 고딕"/>
              </a:rPr>
              <a:t>도입</a:t>
            </a:r>
          </a:p>
        </p:txBody>
      </p:sp>
      <p:sp>
        <p:nvSpPr>
          <p:cNvPr id="23" name="Chevron 22"/>
          <p:cNvSpPr/>
          <p:nvPr/>
        </p:nvSpPr>
        <p:spPr>
          <a:xfrm>
            <a:off x="4384548" y="4114800"/>
            <a:ext cx="534924" cy="548640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B2230"/>
                </a:solidFill>
                <a:latin typeface="맑은 고딕"/>
              </a:rPr>
              <a:t>검증</a:t>
            </a:r>
          </a:p>
        </p:txBody>
      </p:sp>
      <p:sp>
        <p:nvSpPr>
          <p:cNvPr id="24" name="Chevron 23"/>
          <p:cNvSpPr/>
          <p:nvPr/>
        </p:nvSpPr>
        <p:spPr>
          <a:xfrm>
            <a:off x="4873752" y="4114800"/>
            <a:ext cx="534924" cy="548640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B2230"/>
                </a:solidFill>
                <a:latin typeface="맑은 고딕"/>
              </a:rPr>
              <a:t>생산</a:t>
            </a:r>
          </a:p>
        </p:txBody>
      </p:sp>
      <p:sp>
        <p:nvSpPr>
          <p:cNvPr id="25" name="Chevron 24"/>
          <p:cNvSpPr/>
          <p:nvPr/>
        </p:nvSpPr>
        <p:spPr>
          <a:xfrm>
            <a:off x="5362956" y="4114800"/>
            <a:ext cx="534924" cy="548640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B2230"/>
                </a:solidFill>
                <a:latin typeface="맑은 고딕"/>
              </a:rPr>
              <a:t>회수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2788920"/>
            <a:ext cx="2720340" cy="3246120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2834640"/>
            <a:ext cx="25374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1">
                <a:solidFill>
                  <a:srgbClr val="1F3864"/>
                </a:solidFill>
                <a:latin typeface="맑은 고딕"/>
              </a:rPr>
              <a:t>하비볼 평가표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200400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800" b="1">
                <a:solidFill>
                  <a:srgbClr val="7F7F7F"/>
                </a:solidFill>
                <a:latin typeface="맑은 고딕"/>
              </a:rPr>
              <a:t>속도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3200400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800" b="1">
                <a:solidFill>
                  <a:srgbClr val="7F7F7F"/>
                </a:solidFill>
                <a:latin typeface="맑은 고딕"/>
              </a:rPr>
              <a:t>비용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3200400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800" b="1">
                <a:solidFill>
                  <a:srgbClr val="7F7F7F"/>
                </a:solidFill>
                <a:latin typeface="맑은 고딕"/>
              </a:rPr>
              <a:t>지배구조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566160"/>
            <a:ext cx="100584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00" b="0">
                <a:solidFill>
                  <a:srgbClr val="1B2230"/>
                </a:solidFill>
                <a:latin typeface="맑은 고딕"/>
              </a:rPr>
              <a:t>은행 차입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3493008"/>
            <a:ext cx="68580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0">
                <a:solidFill>
                  <a:srgbClr val="1F3864"/>
                </a:solidFill>
                <a:latin typeface="맑은 고딕"/>
              </a:rPr>
              <a:t>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3493008"/>
            <a:ext cx="68580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0">
                <a:solidFill>
                  <a:srgbClr val="1F3864"/>
                </a:solidFill>
                <a:latin typeface="맑은 고딕"/>
              </a:rPr>
              <a:t>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3493008"/>
            <a:ext cx="68580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0">
                <a:solidFill>
                  <a:srgbClr val="1F3864"/>
                </a:solidFill>
                <a:latin typeface="맑은 고딕"/>
              </a:rPr>
              <a:t>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023360"/>
            <a:ext cx="100584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00" b="0">
                <a:solidFill>
                  <a:srgbClr val="1B2230"/>
                </a:solidFill>
                <a:latin typeface="맑은 고딕"/>
              </a:rPr>
              <a:t>회사채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3950208"/>
            <a:ext cx="68580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0">
                <a:solidFill>
                  <a:srgbClr val="1F3864"/>
                </a:solidFill>
                <a:latin typeface="맑은 고딕"/>
              </a:rPr>
              <a:t>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3950208"/>
            <a:ext cx="68580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0">
                <a:solidFill>
                  <a:srgbClr val="1F3864"/>
                </a:solidFill>
                <a:latin typeface="맑은 고딕"/>
              </a:rPr>
              <a:t>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3950208"/>
            <a:ext cx="68580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0">
                <a:solidFill>
                  <a:srgbClr val="1F3864"/>
                </a:solidFill>
                <a:latin typeface="맑은 고딕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480560"/>
            <a:ext cx="100584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00" b="0">
                <a:solidFill>
                  <a:srgbClr val="1B2230"/>
                </a:solidFill>
                <a:latin typeface="맑은 고딕"/>
              </a:rPr>
              <a:t>유상증자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4407408"/>
            <a:ext cx="68580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0">
                <a:solidFill>
                  <a:srgbClr val="1F3864"/>
                </a:solidFill>
                <a:latin typeface="맑은 고딕"/>
              </a:rPr>
              <a:t>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4407408"/>
            <a:ext cx="68580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0">
                <a:solidFill>
                  <a:srgbClr val="1F3864"/>
                </a:solidFill>
                <a:latin typeface="맑은 고딕"/>
              </a:rPr>
              <a:t>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4407408"/>
            <a:ext cx="68580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0">
                <a:solidFill>
                  <a:srgbClr val="1F3864"/>
                </a:solidFill>
                <a:latin typeface="맑은 고딕"/>
              </a:rPr>
              <a:t>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75420" y="2788920"/>
            <a:ext cx="2720340" cy="3246120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66860" y="2834640"/>
            <a:ext cx="25374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1">
                <a:solidFill>
                  <a:srgbClr val="1F3864"/>
                </a:solidFill>
                <a:latin typeface="맑은 고딕"/>
              </a:rPr>
              <a:t>비교 막대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61220" y="3474720"/>
            <a:ext cx="1142462" cy="4114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12580" y="3502152"/>
            <a:ext cx="54864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00" b="1">
                <a:solidFill>
                  <a:srgbClr val="1B2230"/>
                </a:solidFill>
                <a:latin typeface="맑은 고딕"/>
              </a:rPr>
              <a:t>C사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49402" y="3502152"/>
            <a:ext cx="54864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00" b="1">
                <a:solidFill>
                  <a:srgbClr val="2E75B6"/>
                </a:solidFill>
                <a:latin typeface="맑은 고딕"/>
              </a:rPr>
              <a:t>72%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761220" y="4114800"/>
            <a:ext cx="1348740" cy="41148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2580" y="4142232"/>
            <a:ext cx="54864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00" b="1">
                <a:solidFill>
                  <a:srgbClr val="1B2230"/>
                </a:solidFill>
                <a:latin typeface="맑은 고딕"/>
              </a:rPr>
              <a:t>업계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4142232"/>
            <a:ext cx="54864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00" b="1">
                <a:solidFill>
                  <a:srgbClr val="7F7F7F"/>
                </a:solidFill>
                <a:latin typeface="맑은 고딕"/>
              </a:rPr>
              <a:t>85%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580" y="4846320"/>
            <a:ext cx="24460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7F7F7F"/>
                </a:solidFill>
                <a:latin typeface="맑은 고딕"/>
              </a:rPr>
              <a:t>설비 가동률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217920"/>
            <a:ext cx="114300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맑은 고딕"/>
              </a:rPr>
              <a:t>도식 선택: 과정은 쉐브론, 원인 분해는 이슈트리, 포지셔닝은 2x2, 옵션 비교는 하비볼, 구성 요소는 3기둥, 수치 연결은 브릿지, 범위 비교는 풋볼필드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229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맑은 고딕"/>
              </a:rPr>
              <a:t>실제 장표 적용 예시 / 이슈트리 / 가상 C사 (과제 데이터 아님)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11430000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맑은 고딕"/>
              </a:rPr>
              <a:t>C사 영업이익 100억 감소의 70%는 원가율 상승에서 나왔다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114300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694944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맑은 고딕"/>
              </a:rPr>
              <a:t>영업이익 변동 요인 분해 (2024 → 2025)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0"/>
            <a:ext cx="1005840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영업이익 -100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1965960"/>
            <a:ext cx="1188720" cy="384048"/>
          </a:xfrm>
          <a:prstGeom prst="rect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F3864"/>
                </a:solidFill>
                <a:latin typeface="맑은 고딕"/>
              </a:rPr>
              <a:t>매출 효과 +20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554480" y="2157984"/>
            <a:ext cx="457200" cy="1453896"/>
          </a:xfrm>
          <a:prstGeom prst="line">
            <a:avLst/>
          </a:prstGeom>
          <a:ln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011680" y="3063239"/>
            <a:ext cx="1188720" cy="384048"/>
          </a:xfrm>
          <a:prstGeom prst="rect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F3864"/>
                </a:solidFill>
                <a:latin typeface="맑은 고딕"/>
              </a:rPr>
              <a:t>원가율 효과 -70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554480" y="3255263"/>
            <a:ext cx="457200" cy="356617"/>
          </a:xfrm>
          <a:prstGeom prst="line">
            <a:avLst/>
          </a:prstGeom>
          <a:ln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011680" y="4160520"/>
            <a:ext cx="1188720" cy="384048"/>
          </a:xfrm>
          <a:prstGeom prst="rect">
            <a:avLst/>
          </a:prstGeom>
          <a:noFill/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F3864"/>
                </a:solidFill>
                <a:latin typeface="맑은 고딕"/>
              </a:rPr>
              <a:t>판관비 효과 -50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54480" y="3611880"/>
            <a:ext cx="457200" cy="740664"/>
          </a:xfrm>
          <a:prstGeom prst="line">
            <a:avLst/>
          </a:prstGeom>
          <a:ln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589520" y="1737360"/>
            <a:ext cx="4206240" cy="10972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맑은 고딕"/>
              </a:rPr>
              <a:t>원가율 +1.4%p</a:t>
            </a:r>
          </a:p>
          <a:p>
            <a:pPr algn="l"/>
            <a:r>
              <a:rPr sz="1200" b="0">
                <a:solidFill>
                  <a:srgbClr val="1B2230"/>
                </a:solidFill>
                <a:latin typeface="맑은 고딕"/>
              </a:rPr>
              <a:t>원재료 단가 상승이 판가에 전가되지 않음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971800"/>
            <a:ext cx="4206240" cy="10972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맑은 고딕"/>
              </a:rPr>
              <a:t>판관비 +50억</a:t>
            </a:r>
          </a:p>
          <a:p>
            <a:pPr algn="l"/>
            <a:r>
              <a:rPr sz="1200" b="0">
                <a:solidFill>
                  <a:srgbClr val="1B2230"/>
                </a:solidFill>
                <a:latin typeface="맑은 고딕"/>
              </a:rPr>
              <a:t>신규 영업조직 인건비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4206240"/>
            <a:ext cx="4206240" cy="10972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맑은 고딕"/>
              </a:rPr>
              <a:t>매출 효과 +20억</a:t>
            </a:r>
          </a:p>
          <a:p>
            <a:pPr algn="l"/>
            <a:r>
              <a:rPr sz="1200" b="0">
                <a:solidFill>
                  <a:srgbClr val="1B2230"/>
                </a:solidFill>
                <a:latin typeface="맑은 고딕"/>
              </a:rPr>
              <a:t>물량 증가는 있었으나 상쇄에 못 미침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623560"/>
            <a:ext cx="11430000" cy="5029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1">
                <a:solidFill>
                  <a:srgbClr val="1F3864"/>
                </a:solidFill>
                <a:latin typeface="맑은 고딕"/>
              </a:rPr>
              <a:t>시사점: 판가 전가 협상이 판관비 절감보다 효과가 3배 크다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263640"/>
            <a:ext cx="114300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맑은 고딕"/>
              </a:rPr>
              <a:t>출처: 가상 데이터 (예시), 단위 억원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229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맑은 고딕"/>
              </a:rPr>
              <a:t>실제 장표 적용 예시 / 쉐브론 프로세스 / 가상 C사 (과제 데이터 아님)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11430000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맑은 고딕"/>
              </a:rPr>
              <a:t>신규 라인 투자는 결정 후 30개월이 지나야 현금이 돌아온다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114300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694944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맑은 고딕"/>
              </a:rPr>
              <a:t>투자 단계별 소요 기간</a:t>
            </a:r>
          </a:p>
        </p:txBody>
      </p:sp>
      <p:sp>
        <p:nvSpPr>
          <p:cNvPr id="6" name="Chevron 5"/>
          <p:cNvSpPr/>
          <p:nvPr/>
        </p:nvSpPr>
        <p:spPr>
          <a:xfrm>
            <a:off x="548640" y="3337560"/>
            <a:ext cx="1325880" cy="548640"/>
          </a:xfrm>
          <a:prstGeom prst="chevron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투자 결정</a:t>
            </a:r>
          </a:p>
        </p:txBody>
      </p:sp>
      <p:sp>
        <p:nvSpPr>
          <p:cNvPr id="7" name="Chevron 6"/>
          <p:cNvSpPr/>
          <p:nvPr/>
        </p:nvSpPr>
        <p:spPr>
          <a:xfrm>
            <a:off x="1828800" y="3337560"/>
            <a:ext cx="1325880" cy="548640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B2230"/>
                </a:solidFill>
                <a:latin typeface="맑은 고딕"/>
              </a:rPr>
              <a:t>설비 도입</a:t>
            </a:r>
          </a:p>
        </p:txBody>
      </p:sp>
      <p:sp>
        <p:nvSpPr>
          <p:cNvPr id="8" name="Chevron 7"/>
          <p:cNvSpPr/>
          <p:nvPr/>
        </p:nvSpPr>
        <p:spPr>
          <a:xfrm>
            <a:off x="3108960" y="3337560"/>
            <a:ext cx="1325880" cy="548640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B2230"/>
                </a:solidFill>
                <a:latin typeface="맑은 고딕"/>
              </a:rPr>
              <a:t>밸리데이션</a:t>
            </a:r>
          </a:p>
        </p:txBody>
      </p:sp>
      <p:sp>
        <p:nvSpPr>
          <p:cNvPr id="9" name="Chevron 8"/>
          <p:cNvSpPr/>
          <p:nvPr/>
        </p:nvSpPr>
        <p:spPr>
          <a:xfrm>
            <a:off x="4389119" y="3337560"/>
            <a:ext cx="1325880" cy="548640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B2230"/>
                </a:solidFill>
                <a:latin typeface="맑은 고딕"/>
              </a:rPr>
              <a:t>상업 생산</a:t>
            </a:r>
          </a:p>
        </p:txBody>
      </p:sp>
      <p:sp>
        <p:nvSpPr>
          <p:cNvPr id="10" name="Chevron 9"/>
          <p:cNvSpPr/>
          <p:nvPr/>
        </p:nvSpPr>
        <p:spPr>
          <a:xfrm>
            <a:off x="5669279" y="3337560"/>
            <a:ext cx="1325880" cy="548640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B2230"/>
                </a:solidFill>
                <a:latin typeface="맑은 고딕"/>
              </a:rPr>
              <a:t>투자 회수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737360"/>
            <a:ext cx="4206240" cy="10972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맑은 고딕"/>
              </a:rPr>
              <a:t>밸리데이션 9개월</a:t>
            </a:r>
          </a:p>
          <a:p>
            <a:pPr algn="l"/>
            <a:r>
              <a:rPr sz="1200" b="0">
                <a:solidFill>
                  <a:srgbClr val="1B2230"/>
                </a:solidFill>
                <a:latin typeface="맑은 고딕"/>
              </a:rPr>
              <a:t>규제 승인 전까지 매출 없음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971800"/>
            <a:ext cx="4206240" cy="10972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맑은 고딕"/>
              </a:rPr>
              <a:t>상업 생산 첫해</a:t>
            </a:r>
          </a:p>
          <a:p>
            <a:pPr algn="l"/>
            <a:r>
              <a:rPr sz="1200" b="0">
                <a:solidFill>
                  <a:srgbClr val="1B2230"/>
                </a:solidFill>
                <a:latin typeface="맑은 고딕"/>
              </a:rPr>
              <a:t>가동률 60% 수준에서 출발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4206240"/>
            <a:ext cx="4206240" cy="10972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맑은 고딕"/>
              </a:rPr>
              <a:t>회수 시점</a:t>
            </a:r>
          </a:p>
          <a:p>
            <a:pPr algn="l"/>
            <a:r>
              <a:rPr sz="1200" b="0">
                <a:solidFill>
                  <a:srgbClr val="1B2230"/>
                </a:solidFill>
                <a:latin typeface="맑은 고딕"/>
              </a:rPr>
              <a:t>누적 현금흐름 흑자는 30개월차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623560"/>
            <a:ext cx="11430000" cy="5029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1">
                <a:solidFill>
                  <a:srgbClr val="1F3864"/>
                </a:solidFill>
                <a:latin typeface="맑은 고딕"/>
              </a:rPr>
              <a:t>시사점: 투자 승인 시 30개월 운전자금 계획이 같이 올라가야 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263640"/>
            <a:ext cx="114300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맑은 고딕"/>
              </a:rPr>
              <a:t>출처: 가상 데이터 (예시), 단위 억원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229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맑은 고딕"/>
              </a:rPr>
              <a:t>실제 장표 적용 예시 / 하비볼 평가표 / 가상 C사 (과제 데이터 아님)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11430000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맑은 고딕"/>
              </a:rPr>
              <a:t>3개 조달 옵션 중 회사채가 비용과 지배구조 면에서 우위다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114300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694944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맑은 고딕"/>
              </a:rPr>
              <a:t>조달 옵션 평가 (●좋음 ○나쁨)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28800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800" b="1">
                <a:solidFill>
                  <a:srgbClr val="7F7F7F"/>
                </a:solidFill>
                <a:latin typeface="맑은 고딕"/>
              </a:rPr>
              <a:t>속도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828800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800" b="1">
                <a:solidFill>
                  <a:srgbClr val="7F7F7F"/>
                </a:solidFill>
                <a:latin typeface="맑은 고딕"/>
              </a:rPr>
              <a:t>비용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828800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800" b="1">
                <a:solidFill>
                  <a:srgbClr val="7F7F7F"/>
                </a:solidFill>
                <a:latin typeface="맑은 고딕"/>
              </a:rPr>
              <a:t>지배구조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00584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00" b="0">
                <a:solidFill>
                  <a:srgbClr val="1B2230"/>
                </a:solidFill>
                <a:latin typeface="맑은 고딕"/>
              </a:rPr>
              <a:t>은행 차입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21408"/>
            <a:ext cx="68580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0">
                <a:solidFill>
                  <a:srgbClr val="1F3864"/>
                </a:solidFill>
                <a:latin typeface="맑은 고딕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121408"/>
            <a:ext cx="68580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0">
                <a:solidFill>
                  <a:srgbClr val="1F3864"/>
                </a:solidFill>
                <a:latin typeface="맑은 고딕"/>
              </a:rPr>
              <a:t>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121408"/>
            <a:ext cx="68580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0">
                <a:solidFill>
                  <a:srgbClr val="1F3864"/>
                </a:solidFill>
                <a:latin typeface="맑은 고딕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51760"/>
            <a:ext cx="100584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00" b="0">
                <a:solidFill>
                  <a:srgbClr val="1B2230"/>
                </a:solidFill>
                <a:latin typeface="맑은 고딕"/>
              </a:rPr>
              <a:t>회사채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578608"/>
            <a:ext cx="68580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0">
                <a:solidFill>
                  <a:srgbClr val="1F3864"/>
                </a:solidFill>
                <a:latin typeface="맑은 고딕"/>
              </a:rPr>
              <a:t>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578608"/>
            <a:ext cx="68580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0">
                <a:solidFill>
                  <a:srgbClr val="1F3864"/>
                </a:solidFill>
                <a:latin typeface="맑은 고딕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578608"/>
            <a:ext cx="68580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0">
                <a:solidFill>
                  <a:srgbClr val="1F3864"/>
                </a:solidFill>
                <a:latin typeface="맑은 고딕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108960"/>
            <a:ext cx="100584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00" b="0">
                <a:solidFill>
                  <a:srgbClr val="1B2230"/>
                </a:solidFill>
                <a:latin typeface="맑은 고딕"/>
              </a:rPr>
              <a:t>유상증자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035808"/>
            <a:ext cx="68580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0">
                <a:solidFill>
                  <a:srgbClr val="1F3864"/>
                </a:solidFill>
                <a:latin typeface="맑은 고딕"/>
              </a:rPr>
              <a:t>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3035808"/>
            <a:ext cx="68580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0">
                <a:solidFill>
                  <a:srgbClr val="1F3864"/>
                </a:solidFill>
                <a:latin typeface="맑은 고딕"/>
              </a:rPr>
              <a:t>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035808"/>
            <a:ext cx="68580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800" b="0">
                <a:solidFill>
                  <a:srgbClr val="1F3864"/>
                </a:solidFill>
                <a:latin typeface="맑은 고딕"/>
              </a:rPr>
              <a:t>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1737360"/>
            <a:ext cx="4206240" cy="10972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맑은 고딕"/>
              </a:rPr>
              <a:t>은행 차입</a:t>
            </a:r>
          </a:p>
          <a:p>
            <a:pPr algn="l"/>
            <a:r>
              <a:rPr sz="1200" b="0">
                <a:solidFill>
                  <a:srgbClr val="1B2230"/>
                </a:solidFill>
                <a:latin typeface="맑은 고딕"/>
              </a:rPr>
              <a:t>가장 빠르나 만기가 짧다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2971800"/>
            <a:ext cx="4206240" cy="10972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맑은 고딕"/>
              </a:rPr>
              <a:t>회사채</a:t>
            </a:r>
          </a:p>
          <a:p>
            <a:pPr algn="l"/>
            <a:r>
              <a:rPr sz="1200" b="0">
                <a:solidFill>
                  <a:srgbClr val="1B2230"/>
                </a:solidFill>
                <a:latin typeface="맑은 고딕"/>
              </a:rPr>
              <a:t>비용 최저, 신용등급 유지가 전제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206240"/>
            <a:ext cx="4206240" cy="10972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맑은 고딕"/>
              </a:rPr>
              <a:t>유상증자</a:t>
            </a:r>
          </a:p>
          <a:p>
            <a:pPr algn="l"/>
            <a:r>
              <a:rPr sz="1200" b="0">
                <a:solidFill>
                  <a:srgbClr val="1B2230"/>
                </a:solidFill>
                <a:latin typeface="맑은 고딕"/>
              </a:rPr>
              <a:t>지분 희석으로 대주주 협의 필요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623560"/>
            <a:ext cx="11430000" cy="5029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1">
                <a:solidFill>
                  <a:srgbClr val="1F3864"/>
                </a:solidFill>
                <a:latin typeface="맑은 고딕"/>
              </a:rPr>
              <a:t>시사점: 회사채 발행을 기본안으로, 은행 차입은 브릿지로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263640"/>
            <a:ext cx="114300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맑은 고딕"/>
              </a:rPr>
              <a:t>출처: 가상 데이터 (예시), 단위 억원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229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맑은 고딕"/>
              </a:rPr>
              <a:t>실제 장표 적용 예시 / 비교 막대 / 가상 C사 (과제 데이터 아님)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11430000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맑은 고딕"/>
              </a:rPr>
              <a:t>가동률 13%p 격차가 원가 차이를 만든다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114300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694944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맑은 고딕"/>
              </a:rPr>
              <a:t>설비 가동률 C사 vs 업계 평균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103120"/>
            <a:ext cx="4492393" cy="4114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30552"/>
            <a:ext cx="54864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00" b="1">
                <a:solidFill>
                  <a:srgbClr val="1B2230"/>
                </a:solidFill>
                <a:latin typeface="맑은 고딕"/>
              </a:rPr>
              <a:t>C사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5393" y="2130552"/>
            <a:ext cx="54864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00" b="1">
                <a:solidFill>
                  <a:srgbClr val="2E75B6"/>
                </a:solidFill>
                <a:latin typeface="맑은 고딕"/>
              </a:rPr>
              <a:t>72%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743200"/>
            <a:ext cx="5303520" cy="41148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70632"/>
            <a:ext cx="54864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00" b="1">
                <a:solidFill>
                  <a:srgbClr val="1B2230"/>
                </a:solidFill>
                <a:latin typeface="맑은 고딕"/>
              </a:rPr>
              <a:t>업계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770632"/>
            <a:ext cx="54864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00" b="1">
                <a:solidFill>
                  <a:srgbClr val="7F7F7F"/>
                </a:solidFill>
                <a:latin typeface="맑은 고딕"/>
              </a:rPr>
              <a:t>85%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74720"/>
            <a:ext cx="64008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7F7F7F"/>
                </a:solidFill>
                <a:latin typeface="맑은 고딕"/>
              </a:rPr>
              <a:t>설비 가동률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1737360"/>
            <a:ext cx="4206240" cy="10972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맑은 고딕"/>
              </a:rPr>
              <a:t>C사 72%</a:t>
            </a:r>
          </a:p>
          <a:p>
            <a:pPr algn="l"/>
            <a:r>
              <a:rPr sz="1200" b="0">
                <a:solidFill>
                  <a:srgbClr val="1B2230"/>
                </a:solidFill>
                <a:latin typeface="맑은 고딕"/>
              </a:rPr>
              <a:t>교체 시간이 길어 가동 손실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971800"/>
            <a:ext cx="4206240" cy="10972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맑은 고딕"/>
              </a:rPr>
              <a:t>업계 85%</a:t>
            </a:r>
          </a:p>
          <a:p>
            <a:pPr algn="l"/>
            <a:r>
              <a:rPr sz="1200" b="0">
                <a:solidFill>
                  <a:srgbClr val="1B2230"/>
                </a:solidFill>
                <a:latin typeface="맑은 고딕"/>
              </a:rPr>
              <a:t>상위 3사 평균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4206240"/>
            <a:ext cx="4206240" cy="10972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맑은 고딕"/>
              </a:rPr>
              <a:t>격차 13%p</a:t>
            </a:r>
          </a:p>
          <a:p>
            <a:pPr algn="l"/>
            <a:r>
              <a:rPr sz="1200" b="0">
                <a:solidFill>
                  <a:srgbClr val="1B2230"/>
                </a:solidFill>
                <a:latin typeface="맑은 고딕"/>
              </a:rPr>
              <a:t>원가율 약 1.5%p에 해당 (가정)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623560"/>
            <a:ext cx="11430000" cy="5029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1">
                <a:solidFill>
                  <a:srgbClr val="1F3864"/>
                </a:solidFill>
                <a:latin typeface="맑은 고딕"/>
              </a:rPr>
              <a:t>시사점: 교체 시간 단축이 증설보다 먼저다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263640"/>
            <a:ext cx="114300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맑은 고딕"/>
              </a:rPr>
              <a:t>출처: 가상 데이터 (예시), 단위 억원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229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맑은 고딕"/>
              </a:rPr>
              <a:t>데이터 (그대로 복사해서 차트에 쓰기)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09728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1B2230"/>
                </a:solidFill>
                <a:latin typeface="맑은 고딕"/>
              </a:rPr>
              <a:t>재무상태표 유동 항목 (단위 억원)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777240"/>
          <a:ext cx="60350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latin typeface="맑은 고딕"/>
                        </a:rP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latin typeface="맑은 고딕"/>
                        </a:rPr>
                        <a:t>A사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latin typeface="맑은 고딕"/>
                        </a:rPr>
                        <a:t>B사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latin typeface="맑은 고딕"/>
                        </a:rPr>
                        <a:t>현금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latin typeface="맑은 고딕"/>
                        </a:rPr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latin typeface="맑은 고딕"/>
                        </a:rPr>
                        <a:t>2,500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latin typeface="맑은 고딕"/>
                        </a:rPr>
                        <a:t>매출채권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latin typeface="맑은 고딕"/>
                        </a:rPr>
                        <a:t>1,500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latin typeface="맑은 고딕"/>
                        </a:rPr>
                        <a:t>1,200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latin typeface="맑은 고딕"/>
                        </a:rPr>
                        <a:t>재고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latin typeface="맑은 고딕"/>
                        </a:rPr>
                        <a:t>1,400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latin typeface="맑은 고딕"/>
                        </a:rPr>
                        <a:t>1,500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latin typeface="맑은 고딕"/>
                        </a:rPr>
                        <a:t>기타 유동자산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latin typeface="맑은 고딕"/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latin typeface="맑은 고딕"/>
                        </a:rPr>
                        <a:t>300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latin typeface="맑은 고딕"/>
                        </a:rPr>
                        <a:t>유동자산 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latin typeface="맑은 고딕"/>
                        </a:rPr>
                        <a:t>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latin typeface="맑은 고딕"/>
                        </a:rPr>
                        <a:t>5,500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latin typeface="맑은 고딕"/>
                        </a:rPr>
                        <a:t>매입채무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latin typeface="맑은 고딕"/>
                        </a:rPr>
                        <a:t>1,200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latin typeface="맑은 고딕"/>
                        </a:rPr>
                        <a:t>1,500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latin typeface="맑은 고딕"/>
                        </a:rPr>
                        <a:t>단기차입금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latin typeface="맑은 고딕"/>
                        </a:rPr>
                        <a:t>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latin typeface="맑은 고딕"/>
                        </a:rPr>
                        <a:t>600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latin typeface="맑은 고딕"/>
                        </a:rPr>
                        <a:t>기타 유동부채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latin typeface="맑은 고딕"/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latin typeface="맑은 고딕"/>
                        </a:rPr>
                        <a:t>400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latin typeface="맑은 고딕"/>
                        </a:rPr>
                        <a:t>유동부채 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latin typeface="맑은 고딕"/>
                        </a:rPr>
                        <a:t>3,500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latin typeface="맑은 고딕"/>
                        </a:rPr>
                        <a:t>2,500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566160"/>
            <a:ext cx="109728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1B2230"/>
                </a:solidFill>
                <a:latin typeface="맑은 고딕"/>
              </a:rPr>
              <a:t>미리 계산한 비율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3886200"/>
          <a:ext cx="603504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latin typeface="맑은 고딕"/>
                        </a:rPr>
                        <a:t>비율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latin typeface="맑은 고딕"/>
                        </a:rPr>
                        <a:t>A사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latin typeface="맑은 고딕"/>
                        </a:rPr>
                        <a:t>B사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latin typeface="맑은 고딕"/>
                        </a:rPr>
                        <a:t>유동비율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latin typeface="맑은 고딕"/>
                        </a:rPr>
                        <a:t>114%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latin typeface="맑은 고딕"/>
                        </a:rPr>
                        <a:t>220%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latin typeface="맑은 고딕"/>
                        </a:rPr>
                        <a:t>당좌비율 (재고 제외)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latin typeface="맑은 고딕"/>
                        </a:rPr>
                        <a:t>74%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latin typeface="맑은 고딕"/>
                        </a:rPr>
                        <a:t>160%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latin typeface="맑은 고딕"/>
                        </a:rPr>
                        <a:t>현금 / 단기차입금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latin typeface="맑은 고딕"/>
                        </a:rP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latin typeface="맑은 고딕"/>
                        </a:rPr>
                        <a:t>417%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229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맑은 고딕"/>
              </a:rPr>
              <a:t>제출 전 체크리스트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43000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맑은 고딕"/>
              </a:rPr>
              <a:t>1주차 요구 범위: 결론 문장 타이틀 + 제시 도식으로 그린 그림 1개 (이슈트리 + 비교 막대) + 출처/단위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300" b="0">
                <a:solidFill>
                  <a:srgbClr val="1B2230"/>
                </a:solidFill>
                <a:latin typeface="맑은 고딕"/>
              </a:rPr>
              <a:t>□  타이틀만 읽어도 '1년은 버티나'의 답이 나오나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300" b="0">
                <a:solidFill>
                  <a:srgbClr val="1B2230"/>
                </a:solidFill>
                <a:latin typeface="맑은 고딕"/>
              </a:rPr>
              <a:t>□  이슈트리로 질문을 쪼갰나 (재고 포함 / 재고 제외 / 현금만)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300" b="0">
                <a:solidFill>
                  <a:srgbClr val="1B2230"/>
                </a:solidFill>
                <a:latin typeface="맑은 고딕"/>
              </a:rPr>
              <a:t>□  각 가지 끝에 비교 막대(재원 vs 갚을 돈)를 붙였나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097280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300" b="0">
                <a:solidFill>
                  <a:srgbClr val="1B2230"/>
                </a:solidFill>
                <a:latin typeface="맑은 고딕"/>
              </a:rPr>
              <a:t>□  앞 장(조달 구조)과 다음 장(현금흐름)으로 이어지나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1097280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300" b="0">
                <a:solidFill>
                  <a:srgbClr val="1B2230"/>
                </a:solidFill>
                <a:latin typeface="맑은 고딕"/>
              </a:rPr>
              <a:t>□  출처와 단위를 적었나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1097280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300" b="0">
                <a:solidFill>
                  <a:srgbClr val="1B2230"/>
                </a:solidFill>
                <a:latin typeface="맑은 고딕"/>
              </a:rPr>
              <a:t>□  (참고) 우측 리드인 불릿 3개, 하단 시사점 1줄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31920"/>
            <a:ext cx="10972800" cy="4114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300" b="0">
                <a:solidFill>
                  <a:srgbClr val="1B2230"/>
                </a:solidFill>
                <a:latin typeface="맑은 고딕"/>
              </a:rPr>
              <a:t>□  30분 안에 끝냈나 (미완이어도 제출)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126480"/>
            <a:ext cx="114300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맑은 고딕"/>
              </a:rPr>
              <a:t>제출: 장표를 PNG로 내보내서 메일의 '클로드에서 답 제출하고 채점받기' 페이지에 올리기. 30분 타임박스, 미완이어도 제출.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